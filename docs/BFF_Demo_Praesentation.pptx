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5" r:id="rId12"/>
    <p:sldId id="266" r:id="rId13"/>
    <p:sldId id="267" r:id="rId14"/>
    <p:sldId id="264" r:id="rId15"/>
  </p:sldIdLst>
  <p:sldSz cx="12192000" cy="6858000"/>
  <p:notesSz cx="6858000" cy="9144000"/>
  <p:custDataLst>
    <p:tags r:id="rId1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6811" userDrawn="1">
          <p15:clr>
            <a:srgbClr val="A4A3A4"/>
          </p15:clr>
        </p15:guide>
        <p15:guide id="2" orient="horz" pos="1117" userDrawn="1">
          <p15:clr>
            <a:srgbClr val="A4A3A4"/>
          </p15:clr>
        </p15:guide>
        <p15:guide id="3" orient="horz" pos="293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85E572E-2ED3-903A-B1C7-206CCC6E2EB1}" name="Daniela | B&amp;R" initials="D|B" userId="S::dm@baranek-renger.de::1b54e985-8640-4357-a88c-6b86d0f2ac30" providerId="AD"/>
  <p188:author id="{AC6CF77F-D5BD-1A65-295C-6F81174AA648}" name="Hannes | B&amp;R" initials="HS" userId="S::hs@baranek-renger.de::a7a03351-11c9-4b28-aa81-f38d09901637" providerId="AD"/>
  <p188:author id="{6577E58D-C966-4BFB-8384-31BA7567E41E}" name="Christiane | B&amp;R" initials="CC" userId="S::cc@baranek-renger.de::17720351-8ab8-4afc-8cb4-0fb4d1522ea7" providerId="AD"/>
  <p188:author id="{E7993DB3-94FB-4703-89B0-E6B7FE3C3A58}" name="Rozana | B&amp;R" initials="R|B" userId="S::rr@baranek-renger.de::d874845c-9d31-40d6-b0d7-1d521d3161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796" autoAdjust="0"/>
    <p:restoredTop sz="93431" autoAdjust="0"/>
  </p:normalViewPr>
  <p:slideViewPr>
    <p:cSldViewPr snapToGrid="0">
      <p:cViewPr varScale="1">
        <p:scale>
          <a:sx n="131" d="100"/>
          <a:sy n="131" d="100"/>
        </p:scale>
        <p:origin x="5544" y="82"/>
      </p:cViewPr>
      <p:guideLst>
        <p:guide pos="6811"/>
        <p:guide orient="horz" pos="1117"/>
        <p:guide orient="horz" pos="2931"/>
      </p:guideLst>
    </p:cSldViewPr>
  </p:slideViewPr>
  <p:outlineViewPr>
    <p:cViewPr>
      <p:scale>
        <a:sx n="33" d="100"/>
        <a:sy n="33" d="100"/>
      </p:scale>
      <p:origin x="0" y="-105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780"/>
    </p:cViewPr>
  </p:sorterViewPr>
  <p:notesViewPr>
    <p:cSldViewPr snapToGrid="0" showGuides="1">
      <p:cViewPr varScale="1">
        <p:scale>
          <a:sx n="78" d="100"/>
          <a:sy n="78" d="100"/>
        </p:scale>
        <p:origin x="254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gs" Target="tags/tag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Relationship Id="rId35" Type="http://schemas.microsoft.com/office/2018/10/relationships/authors" Target="author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A9012F-DAEA-E13D-4CF8-41E6DA3069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2325E3-F4FD-8C7E-603A-49A81BC9ABE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11DA85-BD4C-4CE5-8DCE-74C0F2473EEC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40476F-849F-4BAF-A9EB-3ACA62B8F81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D7D04-ACA6-B1B1-2269-93001E87AD4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5371C5-170D-4C00-ADCC-825FC20949A0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430328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+mn-lt"/>
              </a:defRPr>
            </a:lvl1pPr>
          </a:lstStyle>
          <a:p>
            <a:fld id="{89D530DC-3D95-4EFE-803D-905449110749}" type="datetimeFigureOut">
              <a:rPr lang="de-DE" smtClean="0"/>
              <a:pPr/>
              <a:t>25.04.2026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First </a:t>
            </a:r>
            <a:r>
              <a:rPr lang="de-DE" dirty="0" err="1"/>
              <a:t>level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+mn-lt"/>
              </a:defRPr>
            </a:lvl1pPr>
          </a:lstStyle>
          <a:p>
            <a:fld id="{D978786D-9796-4B15-8CAE-DFAC772040FB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41108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80000" indent="-180000" algn="l" defTabSz="914400" rtl="0" eaLnBrk="1" latinLnBrk="0" hangingPunct="1">
      <a:lnSpc>
        <a:spcPct val="120000"/>
      </a:lnSpc>
      <a:spcAft>
        <a:spcPts val="500"/>
      </a:spcAft>
      <a:buFont typeface="Wingdings" panose="05000000000000000000" pitchFamily="2" charset="2"/>
      <a:buChar char="§"/>
      <a:defRPr sz="1200" kern="1200">
        <a:solidFill>
          <a:schemeClr val="tx2"/>
        </a:solidFill>
        <a:latin typeface="+mn-lt"/>
        <a:ea typeface="+mn-ea"/>
        <a:cs typeface="+mn-cs"/>
      </a:defRPr>
    </a:lvl1pPr>
    <a:lvl2pPr marL="360000" indent="-180000" algn="l" defTabSz="914400" rtl="0" eaLnBrk="1" latinLnBrk="0" hangingPunct="1">
      <a:lnSpc>
        <a:spcPct val="120000"/>
      </a:lnSpc>
      <a:spcAft>
        <a:spcPts val="500"/>
      </a:spcAft>
      <a:buFont typeface="Wingdings" panose="05000000000000000000" pitchFamily="2" charset="2"/>
      <a:buChar char="§"/>
      <a:defRPr sz="1200" kern="1200">
        <a:solidFill>
          <a:schemeClr val="tx2"/>
        </a:solidFill>
        <a:latin typeface="+mn-lt"/>
        <a:ea typeface="+mn-ea"/>
        <a:cs typeface="+mn-cs"/>
      </a:defRPr>
    </a:lvl2pPr>
    <a:lvl3pPr marL="540000" indent="-180000" algn="l" defTabSz="914400" rtl="0" eaLnBrk="1" latinLnBrk="0" hangingPunct="1">
      <a:lnSpc>
        <a:spcPct val="120000"/>
      </a:lnSpc>
      <a:spcAft>
        <a:spcPts val="500"/>
      </a:spcAft>
      <a:buFont typeface="Wingdings" panose="05000000000000000000" pitchFamily="2" charset="2"/>
      <a:buChar char="§"/>
      <a:defRPr sz="1200" kern="1200">
        <a:solidFill>
          <a:schemeClr val="tx2"/>
        </a:solidFill>
        <a:latin typeface="+mn-lt"/>
        <a:ea typeface="+mn-ea"/>
        <a:cs typeface="+mn-cs"/>
      </a:defRPr>
    </a:lvl3pPr>
    <a:lvl4pPr marL="720000" indent="-180000" algn="l" defTabSz="914400" rtl="0" eaLnBrk="1" latinLnBrk="0" hangingPunct="1">
      <a:lnSpc>
        <a:spcPct val="120000"/>
      </a:lnSpc>
      <a:spcAft>
        <a:spcPts val="500"/>
      </a:spcAft>
      <a:buFont typeface="Wingdings" panose="05000000000000000000" pitchFamily="2" charset="2"/>
      <a:buChar char="§"/>
      <a:defRPr sz="1200" kern="1200">
        <a:solidFill>
          <a:schemeClr val="tx2"/>
        </a:solidFill>
        <a:latin typeface="+mn-lt"/>
        <a:ea typeface="+mn-ea"/>
        <a:cs typeface="+mn-cs"/>
      </a:defRPr>
    </a:lvl4pPr>
    <a:lvl5pPr marL="900000" indent="-180000" algn="l" defTabSz="914400" rtl="0" eaLnBrk="1" latinLnBrk="0" hangingPunct="1">
      <a:lnSpc>
        <a:spcPct val="120000"/>
      </a:lnSpc>
      <a:spcAft>
        <a:spcPts val="500"/>
      </a:spcAft>
      <a:buFont typeface="Wingdings" panose="05000000000000000000" pitchFamily="2" charset="2"/>
      <a:buChar char="§"/>
      <a:defRPr sz="1200" kern="1200">
        <a:solidFill>
          <a:schemeClr val="tx2"/>
        </a:solidFill>
        <a:latin typeface="+mn-lt"/>
        <a:ea typeface="+mn-ea"/>
        <a:cs typeface="+mn-cs"/>
      </a:defRPr>
    </a:lvl5pPr>
    <a:lvl6pPr marL="1080000" indent="-180000" algn="l" defTabSz="914400" rtl="0" eaLnBrk="1" latinLnBrk="0" hangingPunct="1">
      <a:lnSpc>
        <a:spcPct val="120000"/>
      </a:lnSpc>
      <a:spcAft>
        <a:spcPts val="500"/>
      </a:spcAft>
      <a:buFont typeface="Wingdings" panose="05000000000000000000" pitchFamily="2" charset="2"/>
      <a:buChar char="§"/>
      <a:defRPr sz="1200" kern="1200">
        <a:solidFill>
          <a:schemeClr val="tx2"/>
        </a:solidFill>
        <a:latin typeface="+mn-lt"/>
        <a:ea typeface="+mn-ea"/>
        <a:cs typeface="+mn-cs"/>
      </a:defRPr>
    </a:lvl6pPr>
    <a:lvl7pPr marL="1260000" indent="-180000" algn="l" defTabSz="914400" rtl="0" eaLnBrk="1" latinLnBrk="0" hangingPunct="1">
      <a:lnSpc>
        <a:spcPct val="120000"/>
      </a:lnSpc>
      <a:spcAft>
        <a:spcPts val="500"/>
      </a:spcAft>
      <a:buFont typeface="Wingdings" panose="05000000000000000000" pitchFamily="2" charset="2"/>
      <a:buChar char="§"/>
      <a:defRPr sz="1200" kern="1200">
        <a:solidFill>
          <a:schemeClr val="tx2"/>
        </a:solidFill>
        <a:latin typeface="+mn-lt"/>
        <a:ea typeface="+mn-ea"/>
        <a:cs typeface="+mn-cs"/>
      </a:defRPr>
    </a:lvl7pPr>
    <a:lvl8pPr marL="1440000" indent="-180000" algn="l" defTabSz="914400" rtl="0" eaLnBrk="1" latinLnBrk="0" hangingPunct="1">
      <a:lnSpc>
        <a:spcPct val="120000"/>
      </a:lnSpc>
      <a:spcAft>
        <a:spcPts val="500"/>
      </a:spcAft>
      <a:buFont typeface="Wingdings" panose="05000000000000000000" pitchFamily="2" charset="2"/>
      <a:buChar char="§"/>
      <a:defRPr sz="1200" kern="1200">
        <a:solidFill>
          <a:schemeClr val="tx2"/>
        </a:solidFill>
        <a:latin typeface="+mn-lt"/>
        <a:ea typeface="+mn-ea"/>
        <a:cs typeface="+mn-cs"/>
      </a:defRPr>
    </a:lvl8pPr>
    <a:lvl9pPr marL="1620000" indent="-180000" algn="l" defTabSz="914400" rtl="0" eaLnBrk="1" latinLnBrk="0" hangingPunct="1">
      <a:lnSpc>
        <a:spcPct val="120000"/>
      </a:lnSpc>
      <a:spcAft>
        <a:spcPts val="500"/>
      </a:spcAft>
      <a:buFont typeface="Wingdings" panose="05000000000000000000" pitchFamily="2" charset="2"/>
      <a:buChar char="§"/>
      <a:defRPr sz="1200" kern="1200">
        <a:solidFill>
          <a:schemeClr val="tx2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– Setup: zwei Frontends, eine Service-Landschaft</a:t>
            </a:r>
          </a:p>
          <a:p>
            <a:r>
              <a:t>– Zwei Szenarien: Read (Aggregation) + Write (Saga mit Kompensation)</a:t>
            </a:r>
          </a:p>
          <a:p>
            <a:r>
              <a:t>– 5 Beobachtungspunkte, die ich aktiv ansage:</a:t>
            </a:r>
          </a:p>
          <a:p>
            <a:r>
              <a:t>– 1. Network-Tab — viele Calls vs. ein Call</a:t>
            </a:r>
          </a:p>
          <a:p>
            <a:r>
              <a:t>– 2. Token — im Storage sichtbar vs. nur Session-Cookie</a:t>
            </a:r>
          </a:p>
          <a:p>
            <a:r>
              <a:t>– 3. TS-Integrationslogik — im Client vs. schlank</a:t>
            </a:r>
          </a:p>
          <a:p>
            <a:r>
              <a:t>– 4. Fehlerfall-Write — Client-Saga vs. Backend-Saga</a:t>
            </a:r>
          </a:p>
          <a:p>
            <a:r>
              <a:t>– 5. Änderungswirkung — Gedankenspiel: was müsste sich im Frontend ändern?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png"/><Relationship Id="rId2" Type="http://schemas.openxmlformats.org/officeDocument/2006/relationships/tags" Target="../tags/tag3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4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png"/><Relationship Id="rId2" Type="http://schemas.openxmlformats.org/officeDocument/2006/relationships/tags" Target="../tags/tag4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7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png"/><Relationship Id="rId2" Type="http://schemas.openxmlformats.org/officeDocument/2006/relationships/tags" Target="../tags/tag5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8.jp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2.png"/><Relationship Id="rId2" Type="http://schemas.openxmlformats.org/officeDocument/2006/relationships/tags" Target="../tags/tag6.xml"/><Relationship Id="rId1" Type="http://schemas.openxmlformats.org/officeDocument/2006/relationships/vmlDrawing" Target="../drawings/vmlDrawing5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5.bin"/><Relationship Id="rId4" Type="http://schemas.openxmlformats.org/officeDocument/2006/relationships/image" Target="../media/image9.jpg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2.png"/><Relationship Id="rId2" Type="http://schemas.openxmlformats.org/officeDocument/2006/relationships/tags" Target="../tags/tag7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6.bin"/><Relationship Id="rId4" Type="http://schemas.openxmlformats.org/officeDocument/2006/relationships/image" Target="../media/image10.jpg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2.png"/><Relationship Id="rId2" Type="http://schemas.openxmlformats.org/officeDocument/2006/relationships/tags" Target="../tags/tag8.xml"/><Relationship Id="rId1" Type="http://schemas.openxmlformats.org/officeDocument/2006/relationships/vmlDrawing" Target="../drawings/vmlDrawing7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6.bin"/><Relationship Id="rId4" Type="http://schemas.openxmlformats.org/officeDocument/2006/relationships/image" Target="../media/image11.jp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9.xml"/><Relationship Id="rId1" Type="http://schemas.openxmlformats.org/officeDocument/2006/relationships/vmlDrawing" Target="../drawings/vmlDrawing8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0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8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vmlDrawing" Target="../drawings/vmlDrawing1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2.xml"/><Relationship Id="rId1" Type="http://schemas.openxmlformats.org/officeDocument/2006/relationships/vmlDrawing" Target="../drawings/vmlDrawing11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9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3.xml"/><Relationship Id="rId1" Type="http://schemas.openxmlformats.org/officeDocument/2006/relationships/vmlDrawing" Target="../drawings/vmlDrawing12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0.bin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png"/><Relationship Id="rId2" Type="http://schemas.openxmlformats.org/officeDocument/2006/relationships/tags" Target="../tags/tag14.xml"/><Relationship Id="rId1" Type="http://schemas.openxmlformats.org/officeDocument/2006/relationships/vmlDrawing" Target="../drawings/vmlDrawing13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1.bin"/><Relationship Id="rId4" Type="http://schemas.openxmlformats.org/officeDocument/2006/relationships/image" Target="../media/image1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E33436A-8B3A-AB5D-ADC3-AABF06734A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5807803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3" name="think-cell Slide" r:id="rId4" imgW="347" imgH="348" progId="TCLayout.ActiveDocument.1">
                  <p:embed/>
                </p:oleObj>
              </mc:Choice>
              <mc:Fallback>
                <p:oleObj name="think-cell Slide" r:id="rId4" imgW="347" imgH="348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E33436A-8B3A-AB5D-ADC3-AABF06734A6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DB4AFA63-F486-07E9-AC5D-D736CA6A6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el 1">
            <a:extLst>
              <a:ext uri="{FF2B5EF4-FFF2-40B4-BE49-F238E27FC236}">
                <a16:creationId xmlns:a16="http://schemas.microsoft.com/office/drawing/2014/main" id="{42B6E755-E567-81EE-6CA7-D9DC1207E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1913" y="2211547"/>
            <a:ext cx="10412179" cy="2215991"/>
          </a:xfrm>
        </p:spPr>
        <p:txBody>
          <a:bodyPr vert="horz" wrap="square" anchor="b" anchorCtr="0">
            <a:noAutofit/>
          </a:bodyPr>
          <a:lstStyle>
            <a:lvl1pPr>
              <a:defRPr sz="7200" b="0">
                <a:solidFill>
                  <a:schemeClr val="tx1"/>
                </a:solidFill>
                <a:latin typeface="+mj-lt"/>
                <a:cs typeface="GFT Corporate SemiBold" pitchFamily="2" charset="0"/>
              </a:defRPr>
            </a:lvl1pPr>
          </a:lstStyle>
          <a:p>
            <a:r>
              <a:rPr lang="en-US" noProof="0" dirty="0"/>
              <a:t>Title of the</a:t>
            </a:r>
            <a:br>
              <a:rPr lang="en-US" noProof="0" dirty="0"/>
            </a:br>
            <a:r>
              <a:rPr lang="en-US" noProof="0" dirty="0"/>
              <a:t>Presentation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4874CEA-F545-109F-8986-D4F1851DB39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336900" y="5015969"/>
            <a:ext cx="10419566" cy="29546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>
                <a:solidFill>
                  <a:schemeClr val="tx2"/>
                </a:solidFill>
                <a:latin typeface="+mn-lt"/>
                <a:cs typeface="GFT Corporate Light" pitchFamily="2" charset="0"/>
              </a:defRPr>
            </a:lvl1pPr>
            <a:lvl2pPr marL="180000" indent="0">
              <a:buNone/>
              <a:defRPr/>
            </a:lvl2pPr>
            <a:lvl3pPr marL="360000" indent="0">
              <a:buNone/>
              <a:defRPr/>
            </a:lvl3pPr>
            <a:lvl4pPr marL="540000" indent="0">
              <a:buNone/>
              <a:defRPr/>
            </a:lvl4pPr>
            <a:lvl5pPr marL="7200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platzhalter 12">
            <a:extLst>
              <a:ext uri="{FF2B5EF4-FFF2-40B4-BE49-F238E27FC236}">
                <a16:creationId xmlns:a16="http://schemas.microsoft.com/office/drawing/2014/main" id="{A05DC13C-BB7A-AE26-44AD-2E91250CA1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31904" y="1907828"/>
            <a:ext cx="10419566" cy="295466"/>
          </a:xfrm>
        </p:spPr>
        <p:txBody>
          <a:bodyPr wrap="square" anchor="b" anchorCtr="0">
            <a:spAutoFit/>
          </a:bodyPr>
          <a:lstStyle>
            <a:lvl1pPr marL="0" indent="0">
              <a:buNone/>
              <a:defRPr sz="1800">
                <a:solidFill>
                  <a:schemeClr val="tx2"/>
                </a:solidFill>
                <a:latin typeface="+mn-lt"/>
                <a:cs typeface="GFT Corporate Light" pitchFamily="2" charset="0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Onlinebild-Platzhalter 11">
            <a:extLst>
              <a:ext uri="{FF2B5EF4-FFF2-40B4-BE49-F238E27FC236}">
                <a16:creationId xmlns:a16="http://schemas.microsoft.com/office/drawing/2014/main" id="{CE725469-04C2-F749-9449-037E1E9EA2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clipArt" sz="quarter" idx="23" hasCustomPrompt="1"/>
          </p:nvPr>
        </p:nvSpPr>
        <p:spPr>
          <a:xfrm>
            <a:off x="414337" y="471488"/>
            <a:ext cx="1240631" cy="486624"/>
          </a:xfr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 l="-19421" t="-53667" r="-17671" b="-47964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835106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83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E33436A-8B3A-AB5D-ADC3-AABF06734A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66944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7" name="think-cell Slide" r:id="rId4" imgW="347" imgH="348" progId="TCLayout.ActiveDocument.1">
                  <p:embed/>
                </p:oleObj>
              </mc:Choice>
              <mc:Fallback>
                <p:oleObj name="think-cell Slide" r:id="rId4" imgW="347" imgH="348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E33436A-8B3A-AB5D-ADC3-AABF06734A6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DB4AFA63-F486-07E9-AC5D-D736CA6A6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el 1">
            <a:extLst>
              <a:ext uri="{FF2B5EF4-FFF2-40B4-BE49-F238E27FC236}">
                <a16:creationId xmlns:a16="http://schemas.microsoft.com/office/drawing/2014/main" id="{42B6E755-E567-81EE-6CA7-D9DC1207E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1913" y="2211547"/>
            <a:ext cx="10410592" cy="2215991"/>
          </a:xfrm>
        </p:spPr>
        <p:txBody>
          <a:bodyPr vert="horz" wrap="square" anchor="b" anchorCtr="0">
            <a:noAutofit/>
          </a:bodyPr>
          <a:lstStyle>
            <a:lvl1pPr>
              <a:defRPr sz="7200" b="0">
                <a:solidFill>
                  <a:schemeClr val="tx1"/>
                </a:solidFill>
                <a:latin typeface="+mj-lt"/>
                <a:cs typeface="GFT Corporate SemiBold" pitchFamily="2" charset="0"/>
              </a:defRPr>
            </a:lvl1pPr>
          </a:lstStyle>
          <a:p>
            <a:r>
              <a:rPr lang="en-US" noProof="0" dirty="0"/>
              <a:t>Title of the</a:t>
            </a:r>
            <a:br>
              <a:rPr lang="en-US" noProof="0" dirty="0"/>
            </a:br>
            <a:r>
              <a:rPr lang="en-US" noProof="0" dirty="0"/>
              <a:t>Presentation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4874CEA-F545-109F-8986-D4F1851DB39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336900" y="5015969"/>
            <a:ext cx="10417977" cy="29546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>
                <a:solidFill>
                  <a:schemeClr val="tx2"/>
                </a:solidFill>
                <a:latin typeface="+mn-lt"/>
                <a:cs typeface="GFT Corporate Light" pitchFamily="2" charset="0"/>
              </a:defRPr>
            </a:lvl1pPr>
            <a:lvl2pPr marL="180000" indent="0">
              <a:buNone/>
              <a:defRPr/>
            </a:lvl2pPr>
            <a:lvl3pPr marL="360000" indent="0">
              <a:buNone/>
              <a:defRPr/>
            </a:lvl3pPr>
            <a:lvl4pPr marL="540000" indent="0">
              <a:buNone/>
              <a:defRPr/>
            </a:lvl4pPr>
            <a:lvl5pPr marL="7200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platzhalter 12">
            <a:extLst>
              <a:ext uri="{FF2B5EF4-FFF2-40B4-BE49-F238E27FC236}">
                <a16:creationId xmlns:a16="http://schemas.microsoft.com/office/drawing/2014/main" id="{A05DC13C-BB7A-AE26-44AD-2E91250CA1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31904" y="1907828"/>
            <a:ext cx="10417977" cy="295466"/>
          </a:xfrm>
        </p:spPr>
        <p:txBody>
          <a:bodyPr wrap="square" anchor="b" anchorCtr="0">
            <a:spAutoFit/>
          </a:bodyPr>
          <a:lstStyle>
            <a:lvl1pPr marL="0" indent="0">
              <a:buNone/>
              <a:defRPr sz="1800">
                <a:solidFill>
                  <a:schemeClr val="tx2"/>
                </a:solidFill>
                <a:latin typeface="+mn-lt"/>
                <a:cs typeface="GFT Corporate Light" pitchFamily="2" charset="0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" name="Onlinebild-Platzhalter 11">
            <a:extLst>
              <a:ext uri="{FF2B5EF4-FFF2-40B4-BE49-F238E27FC236}">
                <a16:creationId xmlns:a16="http://schemas.microsoft.com/office/drawing/2014/main" id="{14E7D8D3-FDA4-C974-DDD5-659C0F15E2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clipArt" sz="quarter" idx="23" hasCustomPrompt="1"/>
          </p:nvPr>
        </p:nvSpPr>
        <p:spPr>
          <a:xfrm>
            <a:off x="414337" y="471488"/>
            <a:ext cx="1240631" cy="486624"/>
          </a:xfr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 l="-19421" t="-53667" r="-17671" b="-47964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616049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DB4AFA63-F486-07E9-AC5D-D736CA6A6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E33436A-8B3A-AB5D-ADC3-AABF06734A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03201951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1" name="think-cell Slide" r:id="rId5" imgW="347" imgH="348" progId="TCLayout.ActiveDocument.1">
                  <p:embed/>
                </p:oleObj>
              </mc:Choice>
              <mc:Fallback>
                <p:oleObj name="think-cell Slide" r:id="rId5" imgW="347" imgH="348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E33436A-8B3A-AB5D-ADC3-AABF06734A6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itel 1">
            <a:extLst>
              <a:ext uri="{FF2B5EF4-FFF2-40B4-BE49-F238E27FC236}">
                <a16:creationId xmlns:a16="http://schemas.microsoft.com/office/drawing/2014/main" id="{42B6E755-E567-81EE-6CA7-D9DC1207E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1913" y="2211547"/>
            <a:ext cx="10412179" cy="2215991"/>
          </a:xfrm>
        </p:spPr>
        <p:txBody>
          <a:bodyPr vert="horz" wrap="square" anchor="b" anchorCtr="0">
            <a:noAutofit/>
          </a:bodyPr>
          <a:lstStyle>
            <a:lvl1pPr>
              <a:defRPr sz="7200" b="0">
                <a:solidFill>
                  <a:schemeClr val="tx1"/>
                </a:solidFill>
                <a:latin typeface="+mj-lt"/>
                <a:cs typeface="GFT Corporate SemiBold" pitchFamily="2" charset="0"/>
              </a:defRPr>
            </a:lvl1pPr>
          </a:lstStyle>
          <a:p>
            <a:r>
              <a:rPr lang="en-US" noProof="0" dirty="0"/>
              <a:t>Title of the</a:t>
            </a:r>
            <a:br>
              <a:rPr lang="en-US" noProof="0" dirty="0"/>
            </a:br>
            <a:r>
              <a:rPr lang="en-US" noProof="0" dirty="0"/>
              <a:t>Presentation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4874CEA-F545-109F-8986-D4F1851DB39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336900" y="5015969"/>
            <a:ext cx="10419566" cy="29546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>
                <a:solidFill>
                  <a:schemeClr val="tx2"/>
                </a:solidFill>
                <a:latin typeface="+mn-lt"/>
                <a:cs typeface="GFT Corporate Light" pitchFamily="2" charset="0"/>
              </a:defRPr>
            </a:lvl1pPr>
            <a:lvl2pPr marL="180000" indent="0">
              <a:buNone/>
              <a:defRPr/>
            </a:lvl2pPr>
            <a:lvl3pPr marL="360000" indent="0">
              <a:buNone/>
              <a:defRPr/>
            </a:lvl3pPr>
            <a:lvl4pPr marL="540000" indent="0">
              <a:buNone/>
              <a:defRPr/>
            </a:lvl4pPr>
            <a:lvl5pPr marL="7200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platzhalter 12">
            <a:extLst>
              <a:ext uri="{FF2B5EF4-FFF2-40B4-BE49-F238E27FC236}">
                <a16:creationId xmlns:a16="http://schemas.microsoft.com/office/drawing/2014/main" id="{A05DC13C-BB7A-AE26-44AD-2E91250CA1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31904" y="1907828"/>
            <a:ext cx="10419566" cy="295466"/>
          </a:xfrm>
        </p:spPr>
        <p:txBody>
          <a:bodyPr wrap="square" anchor="b" anchorCtr="0">
            <a:spAutoFit/>
          </a:bodyPr>
          <a:lstStyle>
            <a:lvl1pPr marL="0" indent="0">
              <a:buNone/>
              <a:defRPr sz="1800">
                <a:solidFill>
                  <a:schemeClr val="tx2"/>
                </a:solidFill>
                <a:latin typeface="+mn-lt"/>
                <a:cs typeface="GFT Corporate Light" pitchFamily="2" charset="0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" name="Onlinebild-Platzhalter 11">
            <a:extLst>
              <a:ext uri="{FF2B5EF4-FFF2-40B4-BE49-F238E27FC236}">
                <a16:creationId xmlns:a16="http://schemas.microsoft.com/office/drawing/2014/main" id="{CC07AEA8-662C-6011-54E0-F004F963B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clipArt" sz="quarter" idx="23" hasCustomPrompt="1"/>
          </p:nvPr>
        </p:nvSpPr>
        <p:spPr>
          <a:xfrm>
            <a:off x="414337" y="471488"/>
            <a:ext cx="1240631" cy="486624"/>
          </a:xfr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 l="-19421" t="-53667" r="-17671" b="-47964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575879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83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F122546-A44E-6C1A-73DE-45E0013FB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A1E0CDEB-08C5-DF75-3369-1C671FEA2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7912195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5" name="think-cell Slide" r:id="rId5" imgW="347" imgH="348" progId="TCLayout.ActiveDocument.1">
                  <p:embed/>
                </p:oleObj>
              </mc:Choice>
              <mc:Fallback>
                <p:oleObj name="think-cell Slide" r:id="rId5" imgW="347" imgH="348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1E0CDEB-08C5-DF75-3369-1C671FEA27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itel 1">
            <a:extLst>
              <a:ext uri="{FF2B5EF4-FFF2-40B4-BE49-F238E27FC236}">
                <a16:creationId xmlns:a16="http://schemas.microsoft.com/office/drawing/2014/main" id="{2D1162D9-159C-48EA-51FD-C65D46F252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6655" y="2463950"/>
            <a:ext cx="10398686" cy="1384995"/>
          </a:xfrm>
        </p:spPr>
        <p:txBody>
          <a:bodyPr wrap="square" anchor="b" anchorCtr="0">
            <a:spAutoFit/>
          </a:bodyPr>
          <a:lstStyle>
            <a:lvl1pPr>
              <a:defRPr sz="5000" b="0">
                <a:solidFill>
                  <a:schemeClr val="tx1"/>
                </a:solidFill>
                <a:latin typeface="GFT Corporate SemiBold" pitchFamily="2" charset="0"/>
                <a:cs typeface="GFT Corporate SemiBold" pitchFamily="2" charset="0"/>
              </a:defRPr>
            </a:lvl1pPr>
          </a:lstStyle>
          <a:p>
            <a:r>
              <a:rPr lang="en-US" noProof="0" dirty="0"/>
              <a:t>Title of the</a:t>
            </a:r>
            <a:br>
              <a:rPr lang="en-US" noProof="0" dirty="0"/>
            </a:br>
            <a:r>
              <a:rPr lang="en-US" noProof="0" dirty="0"/>
              <a:t>Divider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16550954-0433-402B-91FE-AD537F68C14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346656" y="4427851"/>
            <a:ext cx="10406063" cy="2954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None/>
              <a:defRPr sz="1800">
                <a:latin typeface="GFT Corporate Light" pitchFamily="2" charset="0"/>
                <a:cs typeface="GFT Corporate Light" pitchFamily="2" charset="0"/>
              </a:defRPr>
            </a:lvl1pPr>
            <a:lvl2pPr marL="180000" indent="0">
              <a:buNone/>
              <a:defRPr/>
            </a:lvl2pPr>
            <a:lvl3pPr marL="360000" indent="0">
              <a:buNone/>
              <a:defRPr/>
            </a:lvl3pPr>
            <a:lvl4pPr marL="540000" indent="0">
              <a:buNone/>
              <a:defRPr/>
            </a:lvl4pPr>
            <a:lvl5pPr marL="7200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C0DEC1-B25A-73CC-58A5-AE2CAF836E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063E3031-988C-4972-B278-DE76693A4087}" type="datetime4">
              <a:rPr lang="en-US" noProof="0" smtClean="0"/>
              <a:t>April 25, 2026</a:t>
            </a:fld>
            <a:r>
              <a:rPr lang="en-US" noProof="0"/>
              <a:t> |</a:t>
            </a:r>
            <a:endParaRPr lang="en-US" noProof="0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788162B-B2F1-1105-6BA6-8FDAFB3DC9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1476000" y="6456513"/>
            <a:ext cx="2556249" cy="131318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500"/>
              </a:spcBef>
              <a:buClr>
                <a:schemeClr val="tx2"/>
              </a:buClr>
            </a:pPr>
            <a:r>
              <a:rPr lang="en-US"/>
              <a:t>Title of Presentation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9A62C6-E813-03FB-75F5-6477BC8C67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fld id="{B2508EB9-07EC-4D1A-9A39-1C5283F69653}" type="slidenum">
              <a:rPr lang="en-US" noProof="0" smtClean="0"/>
              <a:pPr>
                <a:spcBef>
                  <a:spcPts val="0"/>
                </a:spcBef>
              </a:pPr>
              <a:t>‹Nr.›</a:t>
            </a:fld>
            <a:endParaRPr lang="en-US" noProof="0" dirty="0"/>
          </a:p>
        </p:txBody>
      </p:sp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C150D7EA-546B-F2A3-FB43-80AD813679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350960" y="6456513"/>
            <a:ext cx="0" cy="401487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Graphic 9">
            <a:extLst>
              <a:ext uri="{FF2B5EF4-FFF2-40B4-BE49-F238E27FC236}">
                <a16:creationId xmlns:a16="http://schemas.microsoft.com/office/drawing/2014/main" id="{4C7E9FD5-46D1-4DE2-A4DD-B9A18D56D8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51204" y="6404078"/>
            <a:ext cx="590413" cy="281102"/>
          </a:xfrm>
          <a:prstGeom prst="rect">
            <a:avLst/>
          </a:prstGeom>
        </p:spPr>
      </p:pic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4C4D18A2-CC45-E1E3-74E1-DEE4CC74E4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03713" y="6456513"/>
            <a:ext cx="3587750" cy="131318"/>
          </a:xfrm>
          <a:prstGeom prst="rect">
            <a:avLst/>
          </a:prstGeom>
        </p:spPr>
        <p:txBody>
          <a:bodyPr wrap="square" rIns="0" bIns="0" anchor="ctr" anchorCtr="0">
            <a:spAutoFit/>
          </a:bodyPr>
          <a:lstStyle>
            <a:lvl1pPr marL="0" indent="0">
              <a:buFontTx/>
              <a:buNone/>
              <a:defRPr sz="800">
                <a:solidFill>
                  <a:schemeClr val="tx2"/>
                </a:solidFill>
                <a:latin typeface="GFT Corporate Light" pitchFamily="2" charset="0"/>
                <a:cs typeface="GFT Corporate Light" pitchFamily="2" charset="0"/>
              </a:defRPr>
            </a:lvl1pPr>
            <a:lvl2pPr marL="180000" indent="0">
              <a:buFontTx/>
              <a:buNone/>
              <a:defRPr/>
            </a:lvl2pPr>
            <a:lvl3pPr marL="360000" indent="0">
              <a:buFontTx/>
              <a:buNone/>
              <a:defRPr/>
            </a:lvl3pPr>
            <a:lvl4pPr marL="540000" indent="0">
              <a:buFontTx/>
              <a:buNone/>
              <a:defRPr/>
            </a:lvl4pPr>
            <a:lvl5pPr marL="720000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Insert Footer 2</a:t>
            </a:r>
          </a:p>
        </p:txBody>
      </p:sp>
      <p:sp>
        <p:nvSpPr>
          <p:cNvPr id="15" name="Textplatzhalter 3">
            <a:extLst>
              <a:ext uri="{FF2B5EF4-FFF2-40B4-BE49-F238E27FC236}">
                <a16:creationId xmlns:a16="http://schemas.microsoft.com/office/drawing/2014/main" id="{FF13A94C-18C2-2A3C-0AED-4B80855C9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159750" y="6456513"/>
            <a:ext cx="1931987" cy="133200"/>
          </a:xfrm>
        </p:spPr>
        <p:txBody>
          <a:bodyPr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SzTx/>
              <a:buFont typeface="Wingdings" panose="05000000000000000000" pitchFamily="2" charset="2"/>
              <a:buNone/>
              <a:tabLst/>
              <a:defRPr sz="800">
                <a:solidFill>
                  <a:schemeClr val="tx2"/>
                </a:solidFill>
                <a:latin typeface="GFT Corporate Light" pitchFamily="2" charset="0"/>
                <a:cs typeface="GFT Corporate Light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Insert Footer 3</a:t>
            </a:r>
          </a:p>
        </p:txBody>
      </p:sp>
    </p:spTree>
    <p:extLst>
      <p:ext uri="{BB962C8B-B14F-4D97-AF65-F5344CB8AC3E}">
        <p14:creationId xmlns:p14="http://schemas.microsoft.com/office/powerpoint/2010/main" val="3794974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F122546-A44E-6C1A-73DE-45E0013FB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A1E0CDEB-08C5-DF75-3369-1C671FEA2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605311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49" name="think-cell Slide" r:id="rId5" imgW="347" imgH="348" progId="TCLayout.ActiveDocument.1">
                  <p:embed/>
                </p:oleObj>
              </mc:Choice>
              <mc:Fallback>
                <p:oleObj name="think-cell Slide" r:id="rId5" imgW="347" imgH="348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1E0CDEB-08C5-DF75-3369-1C671FEA27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itel 1">
            <a:extLst>
              <a:ext uri="{FF2B5EF4-FFF2-40B4-BE49-F238E27FC236}">
                <a16:creationId xmlns:a16="http://schemas.microsoft.com/office/drawing/2014/main" id="{2D1162D9-159C-48EA-51FD-C65D46F252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6655" y="2463950"/>
            <a:ext cx="10398686" cy="1384995"/>
          </a:xfrm>
        </p:spPr>
        <p:txBody>
          <a:bodyPr wrap="square" anchor="b" anchorCtr="0">
            <a:spAutoFit/>
          </a:bodyPr>
          <a:lstStyle>
            <a:lvl1pPr>
              <a:defRPr sz="5000" b="0">
                <a:solidFill>
                  <a:schemeClr val="tx1"/>
                </a:solidFill>
                <a:latin typeface="GFT Corporate SemiBold" pitchFamily="2" charset="0"/>
                <a:cs typeface="GFT Corporate SemiBold" pitchFamily="2" charset="0"/>
              </a:defRPr>
            </a:lvl1pPr>
          </a:lstStyle>
          <a:p>
            <a:r>
              <a:rPr lang="en-US" noProof="0" dirty="0"/>
              <a:t>Title of the</a:t>
            </a:r>
            <a:br>
              <a:rPr lang="en-US" noProof="0" dirty="0"/>
            </a:br>
            <a:r>
              <a:rPr lang="en-US" noProof="0" dirty="0"/>
              <a:t>Divider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16550954-0433-402B-91FE-AD537F68C14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346656" y="4427851"/>
            <a:ext cx="10406063" cy="2954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None/>
              <a:defRPr sz="1800">
                <a:latin typeface="GFT Corporate Light" pitchFamily="2" charset="0"/>
                <a:cs typeface="GFT Corporate Light" pitchFamily="2" charset="0"/>
              </a:defRPr>
            </a:lvl1pPr>
            <a:lvl2pPr marL="180000" indent="0">
              <a:buNone/>
              <a:defRPr/>
            </a:lvl2pPr>
            <a:lvl3pPr marL="360000" indent="0">
              <a:buNone/>
              <a:defRPr/>
            </a:lvl3pPr>
            <a:lvl4pPr marL="540000" indent="0">
              <a:buNone/>
              <a:defRPr/>
            </a:lvl4pPr>
            <a:lvl5pPr marL="7200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cxnSp>
        <p:nvCxnSpPr>
          <p:cNvPr id="5" name="Straight Connector 6">
            <a:extLst>
              <a:ext uri="{FF2B5EF4-FFF2-40B4-BE49-F238E27FC236}">
                <a16:creationId xmlns:a16="http://schemas.microsoft.com/office/drawing/2014/main" id="{2F42A667-53B3-6A18-0E68-7B147AE1E9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350960" y="6456513"/>
            <a:ext cx="0" cy="401487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Graphic 6">
            <a:extLst>
              <a:ext uri="{FF2B5EF4-FFF2-40B4-BE49-F238E27FC236}">
                <a16:creationId xmlns:a16="http://schemas.microsoft.com/office/drawing/2014/main" id="{9B8480BE-A15B-ECFD-9FF5-A54A44765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51204" y="6404078"/>
            <a:ext cx="590413" cy="281102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2E847F-54CA-613F-C26A-E076502BF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BCC64D4F-4A56-4BEC-8D01-3EDB84399994}" type="datetime4">
              <a:rPr lang="en-US" noProof="0" smtClean="0"/>
              <a:t>April 25, 2026</a:t>
            </a:fld>
            <a:r>
              <a:rPr lang="en-US" noProof="0"/>
              <a:t> |</a:t>
            </a:r>
            <a:endParaRPr lang="en-US" noProof="0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9A0F8B2F-5953-AE3C-6127-00FC7C3A7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1476001" y="6456513"/>
            <a:ext cx="2556250" cy="131318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500"/>
              </a:spcBef>
              <a:buClr>
                <a:schemeClr val="tx2"/>
              </a:buClr>
            </a:pPr>
            <a:r>
              <a:rPr lang="en-US" dirty="0"/>
              <a:t>Title of Presentation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C1B1928-CB23-5C74-9E5F-62F489F8B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fld id="{B2508EB9-07EC-4D1A-9A39-1C5283F69653}" type="slidenum">
              <a:rPr lang="en-US" noProof="0" smtClean="0"/>
              <a:pPr>
                <a:spcBef>
                  <a:spcPts val="0"/>
                </a:spcBef>
              </a:pPr>
              <a:t>‹Nr.›</a:t>
            </a:fld>
            <a:endParaRPr lang="en-US" noProof="0" dirty="0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ACCC56A2-BE7F-E616-1935-C388378B6F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03713" y="6456513"/>
            <a:ext cx="3587750" cy="131318"/>
          </a:xfrm>
          <a:prstGeom prst="rect">
            <a:avLst/>
          </a:prstGeom>
        </p:spPr>
        <p:txBody>
          <a:bodyPr wrap="square" rIns="0" bIns="0" anchor="ctr" anchorCtr="0">
            <a:spAutoFit/>
          </a:bodyPr>
          <a:lstStyle>
            <a:lvl1pPr marL="0" indent="0">
              <a:buFontTx/>
              <a:buNone/>
              <a:defRPr sz="800">
                <a:solidFill>
                  <a:schemeClr val="tx2"/>
                </a:solidFill>
                <a:latin typeface="GFT Corporate Light" pitchFamily="2" charset="0"/>
                <a:cs typeface="GFT Corporate Light" pitchFamily="2" charset="0"/>
              </a:defRPr>
            </a:lvl1pPr>
            <a:lvl2pPr marL="180000" indent="0">
              <a:buFontTx/>
              <a:buNone/>
              <a:defRPr/>
            </a:lvl2pPr>
            <a:lvl3pPr marL="360000" indent="0">
              <a:buFontTx/>
              <a:buNone/>
              <a:defRPr/>
            </a:lvl3pPr>
            <a:lvl4pPr marL="540000" indent="0">
              <a:buFontTx/>
              <a:buNone/>
              <a:defRPr/>
            </a:lvl4pPr>
            <a:lvl5pPr marL="720000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Insert Footer 2</a:t>
            </a:r>
          </a:p>
        </p:txBody>
      </p:sp>
      <p:sp>
        <p:nvSpPr>
          <p:cNvPr id="15" name="Textplatzhalter 3">
            <a:extLst>
              <a:ext uri="{FF2B5EF4-FFF2-40B4-BE49-F238E27FC236}">
                <a16:creationId xmlns:a16="http://schemas.microsoft.com/office/drawing/2014/main" id="{E80ED2B7-C95F-413B-EC57-2D4228F79E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159750" y="6456513"/>
            <a:ext cx="1931987" cy="133200"/>
          </a:xfrm>
        </p:spPr>
        <p:txBody>
          <a:bodyPr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SzTx/>
              <a:buFont typeface="Wingdings" panose="05000000000000000000" pitchFamily="2" charset="2"/>
              <a:buNone/>
              <a:tabLst/>
              <a:defRPr sz="800">
                <a:solidFill>
                  <a:schemeClr val="tx2"/>
                </a:solidFill>
                <a:latin typeface="GFT Corporate Light" pitchFamily="2" charset="0"/>
                <a:cs typeface="GFT Corporate Light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Insert Footer 3</a:t>
            </a:r>
          </a:p>
        </p:txBody>
      </p:sp>
    </p:spTree>
    <p:extLst>
      <p:ext uri="{BB962C8B-B14F-4D97-AF65-F5344CB8AC3E}">
        <p14:creationId xmlns:p14="http://schemas.microsoft.com/office/powerpoint/2010/main" val="3847496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F122546-A44E-6C1A-73DE-45E0013FB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A1E0CDEB-08C5-DF75-3369-1C671FEA2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195415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3" name="think-cell Slide" r:id="rId5" imgW="347" imgH="348" progId="TCLayout.ActiveDocument.1">
                  <p:embed/>
                </p:oleObj>
              </mc:Choice>
              <mc:Fallback>
                <p:oleObj name="think-cell Slide" r:id="rId5" imgW="347" imgH="348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1E0CDEB-08C5-DF75-3369-1C671FEA27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itel 1">
            <a:extLst>
              <a:ext uri="{FF2B5EF4-FFF2-40B4-BE49-F238E27FC236}">
                <a16:creationId xmlns:a16="http://schemas.microsoft.com/office/drawing/2014/main" id="{2D1162D9-159C-48EA-51FD-C65D46F252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6655" y="2463950"/>
            <a:ext cx="10398686" cy="1384995"/>
          </a:xfrm>
        </p:spPr>
        <p:txBody>
          <a:bodyPr wrap="square" anchor="b" anchorCtr="0">
            <a:spAutoFit/>
          </a:bodyPr>
          <a:lstStyle>
            <a:lvl1pPr>
              <a:defRPr sz="5000" b="0">
                <a:solidFill>
                  <a:schemeClr val="tx1"/>
                </a:solidFill>
                <a:latin typeface="GFT Corporate SemiBold" pitchFamily="2" charset="0"/>
                <a:cs typeface="GFT Corporate SemiBold" pitchFamily="2" charset="0"/>
              </a:defRPr>
            </a:lvl1pPr>
          </a:lstStyle>
          <a:p>
            <a:r>
              <a:rPr lang="en-US" noProof="0" dirty="0"/>
              <a:t>Title of the</a:t>
            </a:r>
            <a:br>
              <a:rPr lang="en-US" noProof="0" dirty="0"/>
            </a:br>
            <a:r>
              <a:rPr lang="en-US" noProof="0" dirty="0"/>
              <a:t>Divider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16550954-0433-402B-91FE-AD537F68C14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346656" y="4427851"/>
            <a:ext cx="10406063" cy="2954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None/>
              <a:defRPr sz="1800">
                <a:latin typeface="GFT Corporate Light" pitchFamily="2" charset="0"/>
                <a:cs typeface="GFT Corporate Light" pitchFamily="2" charset="0"/>
              </a:defRPr>
            </a:lvl1pPr>
            <a:lvl2pPr marL="180000" indent="0">
              <a:buNone/>
              <a:defRPr/>
            </a:lvl2pPr>
            <a:lvl3pPr marL="360000" indent="0">
              <a:buNone/>
              <a:defRPr/>
            </a:lvl3pPr>
            <a:lvl4pPr marL="540000" indent="0">
              <a:buNone/>
              <a:defRPr/>
            </a:lvl4pPr>
            <a:lvl5pPr marL="7200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cxnSp>
        <p:nvCxnSpPr>
          <p:cNvPr id="5" name="Straight Connector 6">
            <a:extLst>
              <a:ext uri="{FF2B5EF4-FFF2-40B4-BE49-F238E27FC236}">
                <a16:creationId xmlns:a16="http://schemas.microsoft.com/office/drawing/2014/main" id="{D16B1E7C-974F-97AC-A7EB-983191995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350960" y="6456513"/>
            <a:ext cx="0" cy="401487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Graphic 6">
            <a:extLst>
              <a:ext uri="{FF2B5EF4-FFF2-40B4-BE49-F238E27FC236}">
                <a16:creationId xmlns:a16="http://schemas.microsoft.com/office/drawing/2014/main" id="{44954AF1-B7D0-6D97-7DDE-6619691453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51204" y="6404078"/>
            <a:ext cx="590413" cy="281102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68B26E3-3C75-B028-EC01-044B3554E5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9B81C605-1CCC-44D5-9FA0-E9A30EE6768C}" type="datetime4">
              <a:rPr lang="en-US" noProof="0" smtClean="0"/>
              <a:t>April 25, 2026</a:t>
            </a:fld>
            <a:r>
              <a:rPr lang="en-US" noProof="0"/>
              <a:t> |</a:t>
            </a:r>
            <a:endParaRPr lang="en-US" noProof="0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92CCBACF-867C-2D04-6EBD-7B0D90C3BB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1476001" y="6456513"/>
            <a:ext cx="2556250" cy="131318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500"/>
              </a:spcBef>
              <a:buClr>
                <a:schemeClr val="tx2"/>
              </a:buClr>
            </a:pPr>
            <a:r>
              <a:rPr lang="en-US" dirty="0"/>
              <a:t>Title of Presentation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9B46F39-9476-9512-698E-A83AE2095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fld id="{B2508EB9-07EC-4D1A-9A39-1C5283F69653}" type="slidenum">
              <a:rPr lang="en-US" noProof="0" smtClean="0"/>
              <a:pPr>
                <a:spcBef>
                  <a:spcPts val="0"/>
                </a:spcBef>
              </a:pPr>
              <a:t>‹Nr.›</a:t>
            </a:fld>
            <a:endParaRPr lang="en-US" noProof="0" dirty="0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566E6E43-E64D-8B82-CF9A-3228A4F4B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03713" y="6456513"/>
            <a:ext cx="3587750" cy="131318"/>
          </a:xfrm>
          <a:prstGeom prst="rect">
            <a:avLst/>
          </a:prstGeom>
        </p:spPr>
        <p:txBody>
          <a:bodyPr wrap="square" rIns="0" bIns="0" anchor="ctr" anchorCtr="0">
            <a:spAutoFit/>
          </a:bodyPr>
          <a:lstStyle>
            <a:lvl1pPr marL="0" indent="0">
              <a:buFontTx/>
              <a:buNone/>
              <a:defRPr sz="800">
                <a:solidFill>
                  <a:schemeClr val="tx2"/>
                </a:solidFill>
                <a:latin typeface="GFT Corporate Light" pitchFamily="2" charset="0"/>
                <a:cs typeface="GFT Corporate Light" pitchFamily="2" charset="0"/>
              </a:defRPr>
            </a:lvl1pPr>
            <a:lvl2pPr marL="180000" indent="0">
              <a:buFontTx/>
              <a:buNone/>
              <a:defRPr/>
            </a:lvl2pPr>
            <a:lvl3pPr marL="360000" indent="0">
              <a:buFontTx/>
              <a:buNone/>
              <a:defRPr/>
            </a:lvl3pPr>
            <a:lvl4pPr marL="540000" indent="0">
              <a:buFontTx/>
              <a:buNone/>
              <a:defRPr/>
            </a:lvl4pPr>
            <a:lvl5pPr marL="720000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Insert Footer 2</a:t>
            </a:r>
          </a:p>
        </p:txBody>
      </p:sp>
      <p:sp>
        <p:nvSpPr>
          <p:cNvPr id="15" name="Textplatzhalter 3">
            <a:extLst>
              <a:ext uri="{FF2B5EF4-FFF2-40B4-BE49-F238E27FC236}">
                <a16:creationId xmlns:a16="http://schemas.microsoft.com/office/drawing/2014/main" id="{BE835AA3-8928-8B0A-F0E1-56B3532DA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159750" y="6456513"/>
            <a:ext cx="1931987" cy="133200"/>
          </a:xfrm>
        </p:spPr>
        <p:txBody>
          <a:bodyPr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SzTx/>
              <a:buFont typeface="Wingdings" panose="05000000000000000000" pitchFamily="2" charset="2"/>
              <a:buNone/>
              <a:tabLst/>
              <a:defRPr sz="800">
                <a:solidFill>
                  <a:schemeClr val="tx2"/>
                </a:solidFill>
                <a:latin typeface="GFT Corporate Light" pitchFamily="2" charset="0"/>
                <a:cs typeface="GFT Corporate Light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Insert Footer 3</a:t>
            </a:r>
          </a:p>
        </p:txBody>
      </p:sp>
    </p:spTree>
    <p:extLst>
      <p:ext uri="{BB962C8B-B14F-4D97-AF65-F5344CB8AC3E}">
        <p14:creationId xmlns:p14="http://schemas.microsoft.com/office/powerpoint/2010/main" val="1671612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A1E0CDEB-08C5-DF75-3369-1C671FEA2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25965404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7" name="think-cell Slide" r:id="rId4" imgW="347" imgH="348" progId="TCLayout.ActiveDocument.1">
                  <p:embed/>
                </p:oleObj>
              </mc:Choice>
              <mc:Fallback>
                <p:oleObj name="think-cell Slide" r:id="rId4" imgW="347" imgH="348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1E0CDEB-08C5-DF75-3369-1C671FEA27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itle 10">
            <a:extLst>
              <a:ext uri="{FF2B5EF4-FFF2-40B4-BE49-F238E27FC236}">
                <a16:creationId xmlns:a16="http://schemas.microsoft.com/office/drawing/2014/main" id="{9A81F37D-02D3-E0C7-7C04-68499886A7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5294" y="766501"/>
            <a:ext cx="11303794" cy="44319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 noProof="0" dirty="0"/>
              <a:t>Headline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28F6A6D-86A2-1830-9A23-707BD2BB5DB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42913" y="476250"/>
            <a:ext cx="5519737" cy="164148"/>
          </a:xfrm>
        </p:spPr>
        <p:txBody>
          <a:bodyPr>
            <a:spAutoFit/>
          </a:bodyPr>
          <a:lstStyle>
            <a:lvl1pPr marL="0" indent="0">
              <a:buNone/>
              <a:defRPr sz="1000" cap="all" baseline="0"/>
            </a:lvl1pPr>
            <a:lvl2pPr marL="180000" indent="0">
              <a:buNone/>
              <a:defRPr sz="1000" cap="all" baseline="0"/>
            </a:lvl2pPr>
            <a:lvl3pPr marL="360000" indent="0">
              <a:buNone/>
              <a:defRPr sz="1000" cap="all" baseline="0"/>
            </a:lvl3pPr>
            <a:lvl4pPr marL="540000" indent="0">
              <a:buNone/>
              <a:defRPr sz="1000" cap="all" baseline="0"/>
            </a:lvl4pPr>
            <a:lvl5pPr marL="720000" indent="0">
              <a:buNone/>
              <a:defRPr sz="1000" cap="all"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863E15D8-4F7D-9FF0-F984-A6C4ACF3F874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445294" y="1523206"/>
            <a:ext cx="11303794" cy="932657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tx2"/>
              </a:buClr>
              <a:buSzTx/>
              <a:buFont typeface="Wingdings" panose="05000000000000000000" pitchFamily="2" charset="2"/>
              <a:buNone/>
              <a:tabLst/>
              <a:defRPr/>
            </a:lvl1pPr>
            <a:lvl2pPr marL="180000" indent="0">
              <a:buNone/>
              <a:defRPr/>
            </a:lvl2pPr>
            <a:lvl3pPr marL="360000" indent="0">
              <a:buNone/>
              <a:defRPr/>
            </a:lvl3pPr>
            <a:lvl4pPr marL="540000" indent="0">
              <a:buNone/>
              <a:defRPr/>
            </a:lvl4pPr>
            <a:lvl5pPr marL="7200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tx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/>
              <a:t>Click to edit Master text styles</a:t>
            </a:r>
          </a:p>
          <a:p>
            <a:pPr marL="0" marR="0" lvl="1" indent="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tx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/>
              <a:t>Second level</a:t>
            </a:r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79AC8C85-C613-268E-B230-90FBC9DDB3E9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445295" y="2455863"/>
            <a:ext cx="5506244" cy="3858189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20" name="Content Placeholder 18">
            <a:extLst>
              <a:ext uri="{FF2B5EF4-FFF2-40B4-BE49-F238E27FC236}">
                <a16:creationId xmlns:a16="http://schemas.microsoft.com/office/drawing/2014/main" id="{FFE00615-BBAF-42E8-977A-419CDE9D6B27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6240463" y="2455863"/>
            <a:ext cx="5508625" cy="3858189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98DDE3EE-F257-87BE-B583-7204C7C4D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03713" y="6456513"/>
            <a:ext cx="3587750" cy="131318"/>
          </a:xfrm>
          <a:prstGeom prst="rect">
            <a:avLst/>
          </a:prstGeom>
        </p:spPr>
        <p:txBody>
          <a:bodyPr wrap="square" rIns="0" bIns="0" anchor="ctr" anchorCtr="0">
            <a:spAutoFit/>
          </a:bodyPr>
          <a:lstStyle>
            <a:lvl1pPr marL="0" indent="0">
              <a:buFontTx/>
              <a:buNone/>
              <a:defRPr sz="800">
                <a:solidFill>
                  <a:schemeClr val="tx2"/>
                </a:solidFill>
                <a:latin typeface="GFT Corporate Light" pitchFamily="2" charset="0"/>
                <a:cs typeface="GFT Corporate Light" pitchFamily="2" charset="0"/>
              </a:defRPr>
            </a:lvl1pPr>
            <a:lvl2pPr marL="180000" indent="0">
              <a:buFontTx/>
              <a:buNone/>
              <a:defRPr/>
            </a:lvl2pPr>
            <a:lvl3pPr marL="360000" indent="0">
              <a:buFontTx/>
              <a:buNone/>
              <a:defRPr/>
            </a:lvl3pPr>
            <a:lvl4pPr marL="540000" indent="0">
              <a:buFontTx/>
              <a:buNone/>
              <a:defRPr/>
            </a:lvl4pPr>
            <a:lvl5pPr marL="720000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Insert Footer 2</a:t>
            </a: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31B1511D-9CF7-9B3D-7A6C-6A711E7479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159750" y="6456513"/>
            <a:ext cx="1931987" cy="133200"/>
          </a:xfrm>
        </p:spPr>
        <p:txBody>
          <a:bodyPr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SzTx/>
              <a:buFont typeface="Wingdings" panose="05000000000000000000" pitchFamily="2" charset="2"/>
              <a:buNone/>
              <a:tabLst/>
              <a:defRPr sz="800">
                <a:solidFill>
                  <a:schemeClr val="tx2"/>
                </a:solidFill>
                <a:latin typeface="GFT Corporate Light" pitchFamily="2" charset="0"/>
                <a:cs typeface="GFT Corporate Light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Insert Footer 3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B99DD24C-602B-29C6-E1D9-3702CA953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fld id="{BCDA6306-39C6-4AAA-BD10-2DD529978832}" type="datetime4">
              <a:rPr lang="en-US" noProof="0" smtClean="0"/>
              <a:t>April 25, 2026</a:t>
            </a:fld>
            <a:r>
              <a:rPr lang="en-US" noProof="0"/>
              <a:t> |</a:t>
            </a:r>
            <a:endParaRPr lang="en-US" noProof="0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4314DA9-D825-8AFB-C13E-A949EFA37C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9"/>
          </p:nvPr>
        </p:nvSpPr>
        <p:spPr>
          <a:xfrm>
            <a:off x="1476001" y="6456513"/>
            <a:ext cx="2556250" cy="131318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500"/>
              </a:spcBef>
              <a:buClr>
                <a:schemeClr val="tx2"/>
              </a:buClr>
            </a:pPr>
            <a:r>
              <a:rPr lang="en-US"/>
              <a:t>Title of Presentation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84763C64-FC87-D539-AB12-2B26910D26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fld id="{B2508EB9-07EC-4D1A-9A39-1C5283F69653}" type="slidenum">
              <a:rPr lang="en-US" noProof="0" smtClean="0"/>
              <a:pPr>
                <a:spcBef>
                  <a:spcPts val="0"/>
                </a:spcBef>
              </a:pPr>
              <a:t>‹Nr.›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40953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Le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A1E0CDEB-08C5-DF75-3369-1C671FEA2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965616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1" name="think-cell Slide" r:id="rId4" imgW="347" imgH="348" progId="TCLayout.ActiveDocument.1">
                  <p:embed/>
                </p:oleObj>
              </mc:Choice>
              <mc:Fallback>
                <p:oleObj name="think-cell Slide" r:id="rId4" imgW="347" imgH="348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1E0CDEB-08C5-DF75-3369-1C671FEA27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FB104DA4-B7D1-9DDC-8AB0-1ED1054E6070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42913" y="476250"/>
            <a:ext cx="5519737" cy="164148"/>
          </a:xfrm>
        </p:spPr>
        <p:txBody>
          <a:bodyPr>
            <a:spAutoFit/>
          </a:bodyPr>
          <a:lstStyle>
            <a:lvl1pPr marL="0" indent="0">
              <a:buNone/>
              <a:defRPr sz="1000" cap="all" baseline="0"/>
            </a:lvl1pPr>
            <a:lvl2pPr marL="180000" indent="0">
              <a:buNone/>
              <a:defRPr sz="1000" cap="all" baseline="0"/>
            </a:lvl2pPr>
            <a:lvl3pPr marL="360000" indent="0">
              <a:buNone/>
              <a:defRPr sz="1000" cap="all" baseline="0"/>
            </a:lvl3pPr>
            <a:lvl4pPr marL="540000" indent="0">
              <a:buNone/>
              <a:defRPr sz="1000" cap="all" baseline="0"/>
            </a:lvl4pPr>
            <a:lvl5pPr marL="720000" indent="0">
              <a:buNone/>
              <a:defRPr sz="1000" cap="all"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2410E389-E36D-DA40-F532-ADA338346E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5294" y="766501"/>
            <a:ext cx="5506244" cy="44319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 noProof="0" dirty="0"/>
              <a:t>Headline</a:t>
            </a:r>
          </a:p>
        </p:txBody>
      </p:sp>
      <p:sp>
        <p:nvSpPr>
          <p:cNvPr id="10" name="Content Placeholder 16">
            <a:extLst>
              <a:ext uri="{FF2B5EF4-FFF2-40B4-BE49-F238E27FC236}">
                <a16:creationId xmlns:a16="http://schemas.microsoft.com/office/drawing/2014/main" id="{6414856F-B75D-B410-87DE-0B62856A5947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445294" y="1523206"/>
            <a:ext cx="5506244" cy="932657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tx2"/>
              </a:buClr>
              <a:buSzTx/>
              <a:buFont typeface="Wingdings" panose="05000000000000000000" pitchFamily="2" charset="2"/>
              <a:buNone/>
              <a:tabLst/>
              <a:defRPr/>
            </a:lvl1pPr>
            <a:lvl2pPr marL="180000" indent="0">
              <a:buNone/>
              <a:defRPr/>
            </a:lvl2pPr>
            <a:lvl3pPr marL="360000" indent="0">
              <a:buNone/>
              <a:defRPr/>
            </a:lvl3pPr>
            <a:lvl4pPr marL="540000" indent="0">
              <a:buNone/>
              <a:defRPr/>
            </a:lvl4pPr>
            <a:lvl5pPr marL="7200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tx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/>
              <a:t>Click to edit Master text styles</a:t>
            </a:r>
          </a:p>
          <a:p>
            <a:pPr marL="0" marR="0" lvl="1" indent="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tx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/>
              <a:t>Second level</a:t>
            </a:r>
          </a:p>
        </p:txBody>
      </p:sp>
      <p:sp>
        <p:nvSpPr>
          <p:cNvPr id="16" name="Content Placeholder 18">
            <a:extLst>
              <a:ext uri="{FF2B5EF4-FFF2-40B4-BE49-F238E27FC236}">
                <a16:creationId xmlns:a16="http://schemas.microsoft.com/office/drawing/2014/main" id="{0DE164EC-7F94-442E-0DD5-CD0E6489623A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445295" y="2455863"/>
            <a:ext cx="5506244" cy="386238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6" name="Textplatzhalter 3">
            <a:extLst>
              <a:ext uri="{FF2B5EF4-FFF2-40B4-BE49-F238E27FC236}">
                <a16:creationId xmlns:a16="http://schemas.microsoft.com/office/drawing/2014/main" id="{4644014F-6A67-0A21-1506-57135B754E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159750" y="6456513"/>
            <a:ext cx="1931987" cy="133200"/>
          </a:xfrm>
        </p:spPr>
        <p:txBody>
          <a:bodyPr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SzTx/>
              <a:buFont typeface="Wingdings" panose="05000000000000000000" pitchFamily="2" charset="2"/>
              <a:buNone/>
              <a:tabLst/>
              <a:defRPr sz="800">
                <a:solidFill>
                  <a:schemeClr val="tx2"/>
                </a:solidFill>
                <a:latin typeface="GFT Corporate Light" pitchFamily="2" charset="0"/>
                <a:cs typeface="GFT Corporate Light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Insert Footer 3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8D95AA8A-877F-8C32-B156-A4FB30DF7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03713" y="6456513"/>
            <a:ext cx="3587750" cy="131318"/>
          </a:xfrm>
          <a:prstGeom prst="rect">
            <a:avLst/>
          </a:prstGeom>
        </p:spPr>
        <p:txBody>
          <a:bodyPr wrap="square" rIns="0" bIns="0" anchor="ctr" anchorCtr="0">
            <a:spAutoFit/>
          </a:bodyPr>
          <a:lstStyle>
            <a:lvl1pPr marL="0" indent="0">
              <a:buFontTx/>
              <a:buNone/>
              <a:defRPr sz="800">
                <a:solidFill>
                  <a:schemeClr val="tx2"/>
                </a:solidFill>
                <a:latin typeface="GFT Corporate Light" pitchFamily="2" charset="0"/>
                <a:cs typeface="GFT Corporate Light" pitchFamily="2" charset="0"/>
              </a:defRPr>
            </a:lvl1pPr>
            <a:lvl2pPr marL="180000" indent="0">
              <a:buFontTx/>
              <a:buNone/>
              <a:defRPr/>
            </a:lvl2pPr>
            <a:lvl3pPr marL="360000" indent="0">
              <a:buFontTx/>
              <a:buNone/>
              <a:defRPr/>
            </a:lvl3pPr>
            <a:lvl4pPr marL="540000" indent="0">
              <a:buFontTx/>
              <a:buNone/>
              <a:defRPr/>
            </a:lvl4pPr>
            <a:lvl5pPr marL="720000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Insert Footer 2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EB6B3E-AF7B-81DC-DE73-CC170F437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7"/>
          </p:nvPr>
        </p:nvSpPr>
        <p:spPr/>
        <p:txBody>
          <a:bodyPr/>
          <a:lstStyle/>
          <a:p>
            <a:fld id="{57CF8E12-9512-4571-B994-799B954839DC}" type="datetime4">
              <a:rPr lang="en-US" noProof="0" smtClean="0"/>
              <a:t>April 25, 2026</a:t>
            </a:fld>
            <a:r>
              <a:rPr lang="en-US" noProof="0"/>
              <a:t> |</a:t>
            </a:r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D21A77-750A-B80E-5FEA-C2B6409E36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pPr>
              <a:lnSpc>
                <a:spcPct val="120000"/>
              </a:lnSpc>
              <a:spcBef>
                <a:spcPts val="500"/>
              </a:spcBef>
              <a:buClr>
                <a:schemeClr val="tx2"/>
              </a:buClr>
            </a:pPr>
            <a:r>
              <a:rPr lang="en-US"/>
              <a:t>Title of Presentation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055BA65-E89C-AECE-98CC-3E6FA188AC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fld id="{B2508EB9-07EC-4D1A-9A39-1C5283F69653}" type="slidenum">
              <a:rPr lang="en-US" noProof="0" smtClean="0"/>
              <a:pPr>
                <a:spcBef>
                  <a:spcPts val="0"/>
                </a:spcBef>
              </a:pPr>
              <a:t>‹Nr.›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61885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A1E0CDEB-08C5-DF75-3369-1C671FEA2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4981706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5" name="think-cell Slide" r:id="rId4" imgW="347" imgH="348" progId="TCLayout.ActiveDocument.1">
                  <p:embed/>
                </p:oleObj>
              </mc:Choice>
              <mc:Fallback>
                <p:oleObj name="think-cell Slide" r:id="rId4" imgW="347" imgH="348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1E0CDEB-08C5-DF75-3369-1C671FEA27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28F6A6D-86A2-1830-9A23-707BD2BB5DB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42913" y="476250"/>
            <a:ext cx="5519737" cy="164148"/>
          </a:xfrm>
        </p:spPr>
        <p:txBody>
          <a:bodyPr>
            <a:spAutoFit/>
          </a:bodyPr>
          <a:lstStyle>
            <a:lvl1pPr marL="0" indent="0">
              <a:buNone/>
              <a:defRPr sz="1000" cap="all" baseline="0"/>
            </a:lvl1pPr>
            <a:lvl2pPr marL="180000" indent="0">
              <a:buNone/>
              <a:defRPr sz="1000" cap="all" baseline="0"/>
            </a:lvl2pPr>
            <a:lvl3pPr marL="360000" indent="0">
              <a:buNone/>
              <a:defRPr sz="1000" cap="all" baseline="0"/>
            </a:lvl3pPr>
            <a:lvl4pPr marL="540000" indent="0">
              <a:buNone/>
              <a:defRPr sz="1000" cap="all" baseline="0"/>
            </a:lvl4pPr>
            <a:lvl5pPr marL="720000" indent="0">
              <a:buNone/>
              <a:defRPr sz="1000" cap="all"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A81F37D-02D3-E0C7-7C04-68499886A7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5294" y="766501"/>
            <a:ext cx="11303794" cy="44319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 noProof="0" dirty="0"/>
              <a:t>Headline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98DDE3EE-F257-87BE-B583-7204C7C4D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03713" y="6456513"/>
            <a:ext cx="3587750" cy="131318"/>
          </a:xfrm>
          <a:prstGeom prst="rect">
            <a:avLst/>
          </a:prstGeom>
        </p:spPr>
        <p:txBody>
          <a:bodyPr wrap="square" rIns="0" bIns="0" anchor="ctr" anchorCtr="0">
            <a:spAutoFit/>
          </a:bodyPr>
          <a:lstStyle>
            <a:lvl1pPr marL="0" indent="0">
              <a:buFontTx/>
              <a:buNone/>
              <a:defRPr sz="800">
                <a:solidFill>
                  <a:schemeClr val="tx2"/>
                </a:solidFill>
                <a:latin typeface="GFT Corporate Light" pitchFamily="2" charset="0"/>
                <a:cs typeface="GFT Corporate Light" pitchFamily="2" charset="0"/>
              </a:defRPr>
            </a:lvl1pPr>
            <a:lvl2pPr marL="180000" indent="0">
              <a:buFontTx/>
              <a:buNone/>
              <a:defRPr/>
            </a:lvl2pPr>
            <a:lvl3pPr marL="360000" indent="0">
              <a:buFontTx/>
              <a:buNone/>
              <a:defRPr/>
            </a:lvl3pPr>
            <a:lvl4pPr marL="540000" indent="0">
              <a:buFontTx/>
              <a:buNone/>
              <a:defRPr/>
            </a:lvl4pPr>
            <a:lvl5pPr marL="720000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Insert Footer 2</a:t>
            </a: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31B1511D-9CF7-9B3D-7A6C-6A711E7479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158162" y="6456513"/>
            <a:ext cx="1933575" cy="133200"/>
          </a:xfrm>
        </p:spPr>
        <p:txBody>
          <a:bodyPr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SzTx/>
              <a:buFont typeface="Wingdings" panose="05000000000000000000" pitchFamily="2" charset="2"/>
              <a:buNone/>
              <a:tabLst/>
              <a:defRPr sz="800">
                <a:solidFill>
                  <a:schemeClr val="tx2"/>
                </a:solidFill>
                <a:latin typeface="GFT Corporate Light" pitchFamily="2" charset="0"/>
                <a:cs typeface="GFT Corporate Light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Insert Footer 3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09C3E8A-A0A9-6DCA-0F77-BB3D725B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fld id="{8EDEEBE2-F7EE-4B55-9F2B-99F5E25A2148}" type="datetime4">
              <a:rPr lang="en-US" noProof="0" smtClean="0"/>
              <a:t>April 25, 2026</a:t>
            </a:fld>
            <a:r>
              <a:rPr lang="en-US" noProof="0"/>
              <a:t> </a:t>
            </a:r>
            <a:r>
              <a:rPr lang="en-US" noProof="0" dirty="0"/>
              <a:t>|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E8903E-DE30-9E96-4CEB-FF9E66A12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9"/>
          </p:nvPr>
        </p:nvSpPr>
        <p:spPr>
          <a:xfrm>
            <a:off x="1476001" y="6456513"/>
            <a:ext cx="2556250" cy="131318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500"/>
              </a:spcBef>
              <a:buClr>
                <a:schemeClr val="tx2"/>
              </a:buClr>
            </a:pPr>
            <a:r>
              <a:rPr lang="en-US" noProof="0"/>
              <a:t>Title of Presentation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5FE21EC-3904-185A-A914-D4A9C465EB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fld id="{B2508EB9-07EC-4D1A-9A39-1C5283F69653}" type="slidenum">
              <a:rPr lang="en-US" noProof="0" smtClean="0"/>
              <a:pPr>
                <a:spcBef>
                  <a:spcPts val="0"/>
                </a:spcBef>
              </a:pPr>
              <a:t>‹Nr.›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88933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Pictur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A1E0CDEB-08C5-DF75-3369-1C671FEA2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53837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69" name="think-cell Slide" r:id="rId4" imgW="347" imgH="348" progId="TCLayout.ActiveDocument.1">
                  <p:embed/>
                </p:oleObj>
              </mc:Choice>
              <mc:Fallback>
                <p:oleObj name="think-cell Slide" r:id="rId4" imgW="347" imgH="348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1E0CDEB-08C5-DF75-3369-1C671FEA27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28F6A6D-86A2-1830-9A23-707BD2BB5DB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42913" y="476250"/>
            <a:ext cx="5519737" cy="164148"/>
          </a:xfrm>
        </p:spPr>
        <p:txBody>
          <a:bodyPr>
            <a:spAutoFit/>
          </a:bodyPr>
          <a:lstStyle>
            <a:lvl1pPr marL="0" indent="0">
              <a:buNone/>
              <a:defRPr sz="1000" cap="all" baseline="0"/>
            </a:lvl1pPr>
            <a:lvl2pPr marL="180000" indent="0">
              <a:buNone/>
              <a:defRPr sz="1000" cap="all" baseline="0"/>
            </a:lvl2pPr>
            <a:lvl3pPr marL="360000" indent="0">
              <a:buNone/>
              <a:defRPr sz="1000" cap="all" baseline="0"/>
            </a:lvl3pPr>
            <a:lvl4pPr marL="540000" indent="0">
              <a:buNone/>
              <a:defRPr sz="1000" cap="all" baseline="0"/>
            </a:lvl4pPr>
            <a:lvl5pPr marL="720000" indent="0">
              <a:buNone/>
              <a:defRPr sz="1000" cap="all"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A81F37D-02D3-E0C7-7C04-68499886A7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5294" y="766501"/>
            <a:ext cx="11303794" cy="44319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 noProof="0" dirty="0"/>
              <a:t>Headline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863E15D8-4F7D-9FF0-F984-A6C4ACF3F874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445294" y="1523206"/>
            <a:ext cx="11303794" cy="932657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tx2"/>
              </a:buClr>
              <a:buSzTx/>
              <a:buFont typeface="Wingdings" panose="05000000000000000000" pitchFamily="2" charset="2"/>
              <a:buNone/>
              <a:tabLst/>
              <a:defRPr/>
            </a:lvl1pPr>
            <a:lvl2pPr marL="180000" indent="0">
              <a:buNone/>
              <a:defRPr/>
            </a:lvl2pPr>
            <a:lvl3pPr marL="360000" indent="0">
              <a:buNone/>
              <a:defRPr/>
            </a:lvl3pPr>
            <a:lvl4pPr marL="540000" indent="0">
              <a:buNone/>
              <a:defRPr/>
            </a:lvl4pPr>
            <a:lvl5pPr marL="7200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tx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/>
              <a:t>Click to edit Master text styles</a:t>
            </a:r>
          </a:p>
          <a:p>
            <a:pPr marL="0" marR="0" lvl="1" indent="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tx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/>
              <a:t>Second level</a:t>
            </a:r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79AC8C85-C613-268E-B230-90FBC9DDB3E9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445295" y="2455863"/>
            <a:ext cx="3586955" cy="3862092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20" name="Content Placeholder 18">
            <a:extLst>
              <a:ext uri="{FF2B5EF4-FFF2-40B4-BE49-F238E27FC236}">
                <a16:creationId xmlns:a16="http://schemas.microsoft.com/office/drawing/2014/main" id="{FFE00615-BBAF-42E8-977A-419CDE9D6B27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4303712" y="2455863"/>
            <a:ext cx="3587751" cy="3862092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7D6CBC3-CFB2-D686-2484-8FB93B4A8102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8167686" y="2455863"/>
            <a:ext cx="3581401" cy="3862387"/>
          </a:xfrm>
        </p:spPr>
        <p:txBody>
          <a:bodyPr/>
          <a:lstStyle/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98DDE3EE-F257-87BE-B583-7204C7C4D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03712" y="6456513"/>
            <a:ext cx="3592513" cy="131318"/>
          </a:xfrm>
          <a:prstGeom prst="rect">
            <a:avLst/>
          </a:prstGeom>
        </p:spPr>
        <p:txBody>
          <a:bodyPr wrap="square" rIns="0" bIns="0" anchor="ctr" anchorCtr="0">
            <a:spAutoFit/>
          </a:bodyPr>
          <a:lstStyle>
            <a:lvl1pPr marL="0" indent="0">
              <a:buFontTx/>
              <a:buNone/>
              <a:defRPr sz="800">
                <a:solidFill>
                  <a:schemeClr val="tx2"/>
                </a:solidFill>
                <a:latin typeface="GFT Corporate Light" pitchFamily="2" charset="0"/>
                <a:cs typeface="GFT Corporate Light" pitchFamily="2" charset="0"/>
              </a:defRPr>
            </a:lvl1pPr>
            <a:lvl2pPr marL="180000" indent="0">
              <a:buFontTx/>
              <a:buNone/>
              <a:defRPr/>
            </a:lvl2pPr>
            <a:lvl3pPr marL="360000" indent="0">
              <a:buFontTx/>
              <a:buNone/>
              <a:defRPr/>
            </a:lvl3pPr>
            <a:lvl4pPr marL="540000" indent="0">
              <a:buFontTx/>
              <a:buNone/>
              <a:defRPr/>
            </a:lvl4pPr>
            <a:lvl5pPr marL="720000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Insert Footer 2</a:t>
            </a: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31B1511D-9CF7-9B3D-7A6C-6A711E7479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167686" y="6456513"/>
            <a:ext cx="1924052" cy="133200"/>
          </a:xfrm>
        </p:spPr>
        <p:txBody>
          <a:bodyPr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SzTx/>
              <a:buFont typeface="Wingdings" panose="05000000000000000000" pitchFamily="2" charset="2"/>
              <a:buNone/>
              <a:tabLst/>
              <a:defRPr sz="800">
                <a:solidFill>
                  <a:schemeClr val="tx2"/>
                </a:solidFill>
                <a:latin typeface="GFT Corporate Light" pitchFamily="2" charset="0"/>
                <a:cs typeface="GFT Corporate Light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Insert Footer 3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09C3E8A-A0A9-6DCA-0F77-BB3D725B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fld id="{0855D730-6933-45F2-B321-12D08602E76D}" type="datetime4">
              <a:rPr lang="en-US" noProof="0" smtClean="0"/>
              <a:t>April 25, 2026</a:t>
            </a:fld>
            <a:r>
              <a:rPr lang="en-US" noProof="0"/>
              <a:t> </a:t>
            </a:r>
            <a:r>
              <a:rPr lang="en-US" noProof="0" dirty="0"/>
              <a:t>|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E8903E-DE30-9E96-4CEB-FF9E66A12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9"/>
          </p:nvPr>
        </p:nvSpPr>
        <p:spPr>
          <a:xfrm>
            <a:off x="1476001" y="6456513"/>
            <a:ext cx="2556250" cy="131318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500"/>
              </a:spcBef>
              <a:buClr>
                <a:schemeClr val="tx2"/>
              </a:buClr>
            </a:pPr>
            <a:r>
              <a:rPr lang="en-US" noProof="0"/>
              <a:t>Title of Presentation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5FE21EC-3904-185A-A914-D4A9C465EB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fld id="{B2508EB9-07EC-4D1A-9A39-1C5283F69653}" type="slidenum">
              <a:rPr lang="en-US" noProof="0" smtClean="0"/>
              <a:pPr>
                <a:spcBef>
                  <a:spcPts val="0"/>
                </a:spcBef>
              </a:pPr>
              <a:t>‹Nr.›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045146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Pictur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A1E0CDEB-08C5-DF75-3369-1C671FEA2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8693260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3" name="think-cell Slide" r:id="rId4" imgW="347" imgH="348" progId="TCLayout.ActiveDocument.1">
                  <p:embed/>
                </p:oleObj>
              </mc:Choice>
              <mc:Fallback>
                <p:oleObj name="think-cell Slide" r:id="rId4" imgW="347" imgH="348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1E0CDEB-08C5-DF75-3369-1C671FEA27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28F6A6D-86A2-1830-9A23-707BD2BB5DB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913" y="476250"/>
            <a:ext cx="5519737" cy="164148"/>
          </a:xfrm>
        </p:spPr>
        <p:txBody>
          <a:bodyPr>
            <a:spAutoFit/>
          </a:bodyPr>
          <a:lstStyle>
            <a:lvl1pPr marL="0" indent="0">
              <a:buNone/>
              <a:defRPr sz="1000" cap="all" baseline="0"/>
            </a:lvl1pPr>
            <a:lvl2pPr marL="180000" indent="0">
              <a:buNone/>
              <a:defRPr sz="1000" cap="all" baseline="0"/>
            </a:lvl2pPr>
            <a:lvl3pPr marL="360000" indent="0">
              <a:buNone/>
              <a:defRPr sz="1000" cap="all" baseline="0"/>
            </a:lvl3pPr>
            <a:lvl4pPr marL="540000" indent="0">
              <a:buNone/>
              <a:defRPr sz="1000" cap="all" baseline="0"/>
            </a:lvl4pPr>
            <a:lvl5pPr marL="720000" indent="0">
              <a:buNone/>
              <a:defRPr sz="1000" cap="all" baseline="0"/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A81F37D-02D3-E0C7-7C04-68499886A75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5294" y="766501"/>
            <a:ext cx="3598069" cy="44319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 noProof="0" dirty="0"/>
              <a:t>Headline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863E15D8-4F7D-9FF0-F984-A6C4ACF3F874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445294" y="1523206"/>
            <a:ext cx="3598068" cy="932657"/>
          </a:xfrm>
        </p:spPr>
        <p:txBody>
          <a:bodyPr/>
          <a:lstStyle>
            <a:lvl1pPr marL="0" indent="0">
              <a:buNone/>
              <a:defRPr/>
            </a:lvl1pPr>
            <a:lvl2pPr marL="180000" indent="0">
              <a:buNone/>
              <a:defRPr/>
            </a:lvl2pPr>
            <a:lvl3pPr marL="360000" indent="0">
              <a:buNone/>
              <a:defRPr/>
            </a:lvl3pPr>
            <a:lvl4pPr marL="540000" indent="0">
              <a:buNone/>
              <a:defRPr/>
            </a:lvl4pPr>
            <a:lvl5pPr marL="7200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79AC8C85-C613-268E-B230-90FBC9DDB3E9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445295" y="2455863"/>
            <a:ext cx="3586955" cy="386238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7D6CBC3-CFB2-D686-2484-8FB93B4A8102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4303713" y="766501"/>
            <a:ext cx="7445375" cy="555174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98DDE3EE-F257-87BE-B583-7204C7C4D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03713" y="6456513"/>
            <a:ext cx="3587750" cy="131318"/>
          </a:xfrm>
          <a:prstGeom prst="rect">
            <a:avLst/>
          </a:prstGeom>
        </p:spPr>
        <p:txBody>
          <a:bodyPr wrap="square" rIns="0" bIns="0" anchor="ctr" anchorCtr="0">
            <a:spAutoFit/>
          </a:bodyPr>
          <a:lstStyle>
            <a:lvl1pPr marL="0" indent="0">
              <a:buFontTx/>
              <a:buNone/>
              <a:defRPr sz="800">
                <a:solidFill>
                  <a:schemeClr val="tx2"/>
                </a:solidFill>
                <a:latin typeface="GFT Corporate Light" pitchFamily="2" charset="0"/>
                <a:cs typeface="GFT Corporate Light" pitchFamily="2" charset="0"/>
              </a:defRPr>
            </a:lvl1pPr>
            <a:lvl2pPr marL="180000" indent="0">
              <a:buFontTx/>
              <a:buNone/>
              <a:defRPr/>
            </a:lvl2pPr>
            <a:lvl3pPr marL="360000" indent="0">
              <a:buFontTx/>
              <a:buNone/>
              <a:defRPr/>
            </a:lvl3pPr>
            <a:lvl4pPr marL="540000" indent="0">
              <a:buFontTx/>
              <a:buNone/>
              <a:defRPr/>
            </a:lvl4pPr>
            <a:lvl5pPr marL="720000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Insert Footer 2</a:t>
            </a: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31B1511D-9CF7-9B3D-7A6C-6A711E7479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158162" y="6456513"/>
            <a:ext cx="1933575" cy="133200"/>
          </a:xfrm>
        </p:spPr>
        <p:txBody>
          <a:bodyPr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SzTx/>
              <a:buFont typeface="Wingdings" panose="05000000000000000000" pitchFamily="2" charset="2"/>
              <a:buNone/>
              <a:tabLst/>
              <a:defRPr sz="800">
                <a:solidFill>
                  <a:schemeClr val="tx2"/>
                </a:solidFill>
                <a:latin typeface="GFT Corporate Light" pitchFamily="2" charset="0"/>
                <a:cs typeface="GFT Corporate Light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Insert Footer 3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09C3E8A-A0A9-6DCA-0F77-BB3D725B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fld id="{8C17F70C-C6B6-4530-AB78-56D1DECC7D69}" type="datetime4">
              <a:rPr lang="en-US" noProof="0" smtClean="0"/>
              <a:t>April 25, 2026</a:t>
            </a:fld>
            <a:r>
              <a:rPr lang="en-US" noProof="0"/>
              <a:t> </a:t>
            </a:r>
            <a:r>
              <a:rPr lang="en-US" noProof="0" dirty="0"/>
              <a:t>|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E8903E-DE30-9E96-4CEB-FF9E66A12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9"/>
          </p:nvPr>
        </p:nvSpPr>
        <p:spPr>
          <a:xfrm>
            <a:off x="1476001" y="6456513"/>
            <a:ext cx="2556250" cy="131318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500"/>
              </a:spcBef>
              <a:buClr>
                <a:schemeClr val="tx2"/>
              </a:buClr>
            </a:pPr>
            <a:r>
              <a:rPr lang="en-US" noProof="0"/>
              <a:t>Title of Presentation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5FE21EC-3904-185A-A914-D4A9C465EB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fld id="{B2508EB9-07EC-4D1A-9A39-1C5283F69653}" type="slidenum">
              <a:rPr lang="en-US" noProof="0" smtClean="0"/>
              <a:pPr>
                <a:spcBef>
                  <a:spcPts val="0"/>
                </a:spcBef>
              </a:pPr>
              <a:t>‹Nr.›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643148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5F281917-B2FC-A411-2A4E-28F570B9BF7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E4065A1-C208-BAED-C5E8-BEBBC12486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6820406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17" name="think-cell Slide" r:id="rId5" imgW="347" imgH="348" progId="TCLayout.ActiveDocument.1">
                  <p:embed/>
                </p:oleObj>
              </mc:Choice>
              <mc:Fallback>
                <p:oleObj name="think-cell Slide" r:id="rId5" imgW="347" imgH="348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E4065A1-C208-BAED-C5E8-BEBBC12486F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itel 1">
            <a:extLst>
              <a:ext uri="{FF2B5EF4-FFF2-40B4-BE49-F238E27FC236}">
                <a16:creationId xmlns:a16="http://schemas.microsoft.com/office/drawing/2014/main" id="{399F05E3-185A-3508-5E7A-E65592DEA6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624866"/>
            <a:ext cx="4618039" cy="1661993"/>
          </a:xfrm>
        </p:spPr>
        <p:txBody>
          <a:bodyPr vert="horz" wrap="square">
            <a:spAutoFit/>
          </a:bodyPr>
          <a:lstStyle>
            <a:lvl1pPr>
              <a:defRPr sz="6000" b="0">
                <a:solidFill>
                  <a:schemeClr val="tx1"/>
                </a:solidFill>
                <a:latin typeface="+mj-lt"/>
                <a:cs typeface="GFT Corporate SemiBold" pitchFamily="2" charset="0"/>
              </a:defRPr>
            </a:lvl1pPr>
          </a:lstStyle>
          <a:p>
            <a:r>
              <a:rPr lang="en-US" noProof="0" dirty="0"/>
              <a:t>Contact </a:t>
            </a:r>
            <a:br>
              <a:rPr lang="en-US" noProof="0" dirty="0"/>
            </a:br>
            <a:r>
              <a:rPr lang="en-US" noProof="0" dirty="0"/>
              <a:t>Information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3466AF2-865F-55DB-1AB2-9AD35B370D3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34295" y="3799195"/>
            <a:ext cx="4617243" cy="17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/>
            </a:lvl1pPr>
            <a:lvl2pPr marL="180000" indent="0">
              <a:buNone/>
              <a:defRPr/>
            </a:lvl2pPr>
            <a:lvl3pPr marL="360000" indent="0">
              <a:buNone/>
              <a:defRPr/>
            </a:lvl3pPr>
            <a:lvl4pPr marL="540000" indent="0">
              <a:buNone/>
              <a:defRPr/>
            </a:lvl4pPr>
            <a:lvl5pPr marL="720000" indent="0">
              <a:buNone/>
              <a:defRPr/>
            </a:lvl5pPr>
          </a:lstStyle>
          <a:p>
            <a:pPr lvl="0"/>
            <a:r>
              <a:rPr lang="en-US" noProof="0" dirty="0"/>
              <a:t>GFT Technologies </a:t>
            </a:r>
            <a:br>
              <a:rPr lang="en-US" noProof="0" dirty="0"/>
            </a:br>
            <a:r>
              <a:rPr lang="en-US" noProof="0" dirty="0"/>
              <a:t>First name Last name</a:t>
            </a:r>
            <a:br>
              <a:rPr lang="en-US" noProof="0" dirty="0"/>
            </a:br>
            <a:r>
              <a:rPr lang="en-US" noProof="0" dirty="0"/>
              <a:t>Position</a:t>
            </a:r>
            <a:br>
              <a:rPr lang="en-US" noProof="0" dirty="0"/>
            </a:br>
            <a:r>
              <a:rPr lang="en-US" noProof="0" dirty="0"/>
              <a:t>Street address</a:t>
            </a:r>
            <a:br>
              <a:rPr lang="en-US" noProof="0" dirty="0"/>
            </a:br>
            <a:r>
              <a:rPr lang="en-US" noProof="0" dirty="0"/>
              <a:t>12345 City</a:t>
            </a:r>
            <a:br>
              <a:rPr lang="en-US" noProof="0" dirty="0"/>
            </a:br>
            <a:r>
              <a:rPr lang="en-US" noProof="0" dirty="0"/>
              <a:t>T +xx </a:t>
            </a:r>
            <a:r>
              <a:rPr lang="en-US" noProof="0" dirty="0" err="1"/>
              <a:t>xxxx</a:t>
            </a:r>
            <a:r>
              <a:rPr lang="en-US" noProof="0" dirty="0"/>
              <a:t> xxx-</a:t>
            </a:r>
            <a:r>
              <a:rPr lang="en-US" noProof="0" dirty="0" err="1"/>
              <a:t>xxxx</a:t>
            </a:r>
            <a:br>
              <a:rPr lang="en-US" noProof="0" dirty="0"/>
            </a:br>
            <a:r>
              <a:rPr lang="en-US" noProof="0" dirty="0"/>
              <a:t>Firstname.Lastname@gft.com</a:t>
            </a:r>
          </a:p>
        </p:txBody>
      </p:sp>
      <p:sp>
        <p:nvSpPr>
          <p:cNvPr id="3" name="Onlinebild-Platzhalter 11">
            <a:extLst>
              <a:ext uri="{FF2B5EF4-FFF2-40B4-BE49-F238E27FC236}">
                <a16:creationId xmlns:a16="http://schemas.microsoft.com/office/drawing/2014/main" id="{5A001466-B7DC-6338-59AB-4D31CA46F7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clipArt" sz="quarter" idx="24" hasCustomPrompt="1"/>
          </p:nvPr>
        </p:nvSpPr>
        <p:spPr>
          <a:xfrm>
            <a:off x="414337" y="471488"/>
            <a:ext cx="1240631" cy="486624"/>
          </a:xfr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 l="-19421" t="-53667" r="-17671" b="-47964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noProof="0" dirty="0"/>
              <a:t> 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E2F3C5F-86E0-A46A-ABAE-1A6877AFEC16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40464" y="3798404"/>
            <a:ext cx="1655762" cy="1655762"/>
          </a:xfrm>
        </p:spPr>
        <p:txBody>
          <a:bodyPr/>
          <a:lstStyle/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6" name="Footer Placeholder 12">
            <a:extLst>
              <a:ext uri="{FF2B5EF4-FFF2-40B4-BE49-F238E27FC236}">
                <a16:creationId xmlns:a16="http://schemas.microsoft.com/office/drawing/2014/main" id="{0337CA9D-7884-CE78-7CBB-8D429285F9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1334294" y="6456513"/>
            <a:ext cx="3948905" cy="131318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de-DE" sz="800" b="0" i="0" kern="1200">
                <a:solidFill>
                  <a:schemeClr val="tx2"/>
                </a:solidFill>
                <a:latin typeface="GFT Corporate Light" pitchFamily="2" charset="0"/>
                <a:ea typeface="+mn-ea"/>
                <a:cs typeface="GFT Corporate Light" pitchFamily="2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spcBef>
                <a:spcPts val="500"/>
              </a:spcBef>
              <a:buClr>
                <a:schemeClr val="tx2"/>
              </a:buClr>
            </a:pPr>
            <a:r>
              <a:rPr lang="en-US" dirty="0"/>
              <a:t>© 2025 | GFT Technologies SE and its affiliates. All rights reserved.</a:t>
            </a:r>
          </a:p>
        </p:txBody>
      </p:sp>
      <p:sp>
        <p:nvSpPr>
          <p:cNvPr id="7" name="Textfeld 1">
            <a:extLst>
              <a:ext uri="{FF2B5EF4-FFF2-40B4-BE49-F238E27FC236}">
                <a16:creationId xmlns:a16="http://schemas.microsoft.com/office/drawing/2014/main" id="{D24D5F20-86A6-290B-9A67-5D5051D6D9C7}"/>
              </a:ext>
            </a:extLst>
          </p:cNvPr>
          <p:cNvSpPr txBox="1">
            <a:spLocks/>
          </p:cNvSpPr>
          <p:nvPr userDrawn="1"/>
        </p:nvSpPr>
        <p:spPr>
          <a:xfrm>
            <a:off x="1333500" y="6194821"/>
            <a:ext cx="398938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rtl="0"/>
            <a:r>
              <a:rPr lang="en-US" sz="800" dirty="0">
                <a:solidFill>
                  <a:schemeClr val="tx2"/>
                </a:solidFill>
              </a:rPr>
              <a:t>Save resources: this presentation is optimized for screen use. Please avoid printing.</a:t>
            </a:r>
            <a:endParaRPr lang="en-GB" sz="800" dirty="0">
              <a:solidFill>
                <a:schemeClr val="tx2"/>
              </a:solidFill>
            </a:endParaRPr>
          </a:p>
        </p:txBody>
      </p:sp>
      <p:sp>
        <p:nvSpPr>
          <p:cNvPr id="9" name="Freihandform: Form 7">
            <a:extLst>
              <a:ext uri="{FF2B5EF4-FFF2-40B4-BE49-F238E27FC236}">
                <a16:creationId xmlns:a16="http://schemas.microsoft.com/office/drawing/2014/main" id="{6EB63724-44C2-9B2B-B930-AE2CA8A178D7}"/>
              </a:ext>
            </a:extLst>
          </p:cNvPr>
          <p:cNvSpPr/>
          <p:nvPr userDrawn="1"/>
        </p:nvSpPr>
        <p:spPr>
          <a:xfrm>
            <a:off x="1333500" y="5903350"/>
            <a:ext cx="270426" cy="264137"/>
          </a:xfrm>
          <a:custGeom>
            <a:avLst/>
            <a:gdLst>
              <a:gd name="connsiteX0" fmla="*/ 258858 w 522846"/>
              <a:gd name="connsiteY0" fmla="*/ 510687 h 510686"/>
              <a:gd name="connsiteX1" fmla="*/ 249333 w 522846"/>
              <a:gd name="connsiteY1" fmla="*/ 502114 h 510686"/>
              <a:gd name="connsiteX2" fmla="*/ 249333 w 522846"/>
              <a:gd name="connsiteY2" fmla="*/ 502114 h 510686"/>
              <a:gd name="connsiteX3" fmla="*/ 248380 w 522846"/>
              <a:gd name="connsiteY3" fmla="*/ 501162 h 510686"/>
              <a:gd name="connsiteX4" fmla="*/ 215995 w 522846"/>
              <a:gd name="connsiteY4" fmla="*/ 457347 h 510686"/>
              <a:gd name="connsiteX5" fmla="*/ 215043 w 522846"/>
              <a:gd name="connsiteY5" fmla="*/ 458299 h 510686"/>
              <a:gd name="connsiteX6" fmla="*/ 127413 w 522846"/>
              <a:gd name="connsiteY6" fmla="*/ 480207 h 510686"/>
              <a:gd name="connsiteX7" fmla="*/ 53118 w 522846"/>
              <a:gd name="connsiteY7" fmla="*/ 409722 h 510686"/>
              <a:gd name="connsiteX8" fmla="*/ 13113 w 522846"/>
              <a:gd name="connsiteY8" fmla="*/ 382099 h 510686"/>
              <a:gd name="connsiteX9" fmla="*/ 13113 w 522846"/>
              <a:gd name="connsiteY9" fmla="*/ 382099 h 510686"/>
              <a:gd name="connsiteX10" fmla="*/ 730 w 522846"/>
              <a:gd name="connsiteY10" fmla="*/ 377337 h 510686"/>
              <a:gd name="connsiteX11" fmla="*/ 5493 w 522846"/>
              <a:gd name="connsiteY11" fmla="*/ 364954 h 510686"/>
              <a:gd name="connsiteX12" fmla="*/ 5493 w 522846"/>
              <a:gd name="connsiteY12" fmla="*/ 364954 h 510686"/>
              <a:gd name="connsiteX13" fmla="*/ 173133 w 522846"/>
              <a:gd name="connsiteY13" fmla="*/ 326854 h 510686"/>
              <a:gd name="connsiteX14" fmla="*/ 234093 w 522846"/>
              <a:gd name="connsiteY14" fmla="*/ 398292 h 510686"/>
              <a:gd name="connsiteX15" fmla="*/ 225520 w 522846"/>
              <a:gd name="connsiteY15" fmla="*/ 408769 h 510686"/>
              <a:gd name="connsiteX16" fmla="*/ 215043 w 522846"/>
              <a:gd name="connsiteY16" fmla="*/ 400197 h 510686"/>
              <a:gd name="connsiteX17" fmla="*/ 167418 w 522846"/>
              <a:gd name="connsiteY17" fmla="*/ 344952 h 510686"/>
              <a:gd name="connsiteX18" fmla="*/ 45498 w 522846"/>
              <a:gd name="connsiteY18" fmla="*/ 366859 h 510686"/>
              <a:gd name="connsiteX19" fmla="*/ 70263 w 522846"/>
              <a:gd name="connsiteY19" fmla="*/ 400197 h 510686"/>
              <a:gd name="connsiteX20" fmla="*/ 135033 w 522846"/>
              <a:gd name="connsiteY20" fmla="*/ 462109 h 510686"/>
              <a:gd name="connsiteX21" fmla="*/ 204565 w 522846"/>
              <a:gd name="connsiteY21" fmla="*/ 444012 h 510686"/>
              <a:gd name="connsiteX22" fmla="*/ 134080 w 522846"/>
              <a:gd name="connsiteY22" fmla="*/ 401149 h 510686"/>
              <a:gd name="connsiteX23" fmla="*/ 126460 w 522846"/>
              <a:gd name="connsiteY23" fmla="*/ 389719 h 510686"/>
              <a:gd name="connsiteX24" fmla="*/ 137890 w 522846"/>
              <a:gd name="connsiteY24" fmla="*/ 382099 h 510686"/>
              <a:gd name="connsiteX25" fmla="*/ 246475 w 522846"/>
              <a:gd name="connsiteY25" fmla="*/ 464014 h 510686"/>
              <a:gd name="connsiteX26" fmla="*/ 322675 w 522846"/>
              <a:gd name="connsiteY26" fmla="*/ 182074 h 510686"/>
              <a:gd name="connsiteX27" fmla="*/ 336010 w 522846"/>
              <a:gd name="connsiteY27" fmla="*/ 181122 h 510686"/>
              <a:gd name="connsiteX28" fmla="*/ 336963 w 522846"/>
              <a:gd name="connsiteY28" fmla="*/ 194457 h 510686"/>
              <a:gd name="connsiteX29" fmla="*/ 271240 w 522846"/>
              <a:gd name="connsiteY29" fmla="*/ 363049 h 510686"/>
              <a:gd name="connsiteX30" fmla="*/ 281718 w 522846"/>
              <a:gd name="connsiteY30" fmla="*/ 363049 h 510686"/>
              <a:gd name="connsiteX31" fmla="*/ 424593 w 522846"/>
              <a:gd name="connsiteY31" fmla="*/ 305899 h 510686"/>
              <a:gd name="connsiteX32" fmla="*/ 456025 w 522846"/>
              <a:gd name="connsiteY32" fmla="*/ 123019 h 510686"/>
              <a:gd name="connsiteX33" fmla="*/ 464598 w 522846"/>
              <a:gd name="connsiteY33" fmla="*/ 28722 h 510686"/>
              <a:gd name="connsiteX34" fmla="*/ 217900 w 522846"/>
              <a:gd name="connsiteY34" fmla="*/ 143974 h 510686"/>
              <a:gd name="connsiteX35" fmla="*/ 205518 w 522846"/>
              <a:gd name="connsiteY35" fmla="*/ 299232 h 510686"/>
              <a:gd name="connsiteX36" fmla="*/ 202660 w 522846"/>
              <a:gd name="connsiteY36" fmla="*/ 312567 h 510686"/>
              <a:gd name="connsiteX37" fmla="*/ 189325 w 522846"/>
              <a:gd name="connsiteY37" fmla="*/ 309709 h 510686"/>
              <a:gd name="connsiteX38" fmla="*/ 202660 w 522846"/>
              <a:gd name="connsiteY38" fmla="*/ 133497 h 510686"/>
              <a:gd name="connsiteX39" fmla="*/ 511270 w 522846"/>
              <a:gd name="connsiteY39" fmla="*/ 147 h 510686"/>
              <a:gd name="connsiteX40" fmla="*/ 522700 w 522846"/>
              <a:gd name="connsiteY40" fmla="*/ 7767 h 510686"/>
              <a:gd name="connsiteX41" fmla="*/ 515080 w 522846"/>
              <a:gd name="connsiteY41" fmla="*/ 19197 h 510686"/>
              <a:gd name="connsiteX42" fmla="*/ 475075 w 522846"/>
              <a:gd name="connsiteY42" fmla="*/ 121114 h 510686"/>
              <a:gd name="connsiteX43" fmla="*/ 439833 w 522846"/>
              <a:gd name="connsiteY43" fmla="*/ 316377 h 510686"/>
              <a:gd name="connsiteX44" fmla="*/ 280765 w 522846"/>
              <a:gd name="connsiteY44" fmla="*/ 381147 h 510686"/>
              <a:gd name="connsiteX45" fmla="*/ 268383 w 522846"/>
              <a:gd name="connsiteY45" fmla="*/ 381147 h 510686"/>
              <a:gd name="connsiteX46" fmla="*/ 268383 w 522846"/>
              <a:gd name="connsiteY46" fmla="*/ 500209 h 510686"/>
              <a:gd name="connsiteX47" fmla="*/ 259810 w 522846"/>
              <a:gd name="connsiteY47" fmla="*/ 510687 h 510686"/>
              <a:gd name="connsiteX48" fmla="*/ 258858 w 522846"/>
              <a:gd name="connsiteY48" fmla="*/ 510687 h 510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522846" h="510686">
                <a:moveTo>
                  <a:pt x="258858" y="510687"/>
                </a:moveTo>
                <a:cubicBezTo>
                  <a:pt x="254095" y="510687"/>
                  <a:pt x="250285" y="506877"/>
                  <a:pt x="249333" y="502114"/>
                </a:cubicBezTo>
                <a:cubicBezTo>
                  <a:pt x="249333" y="502114"/>
                  <a:pt x="249333" y="502114"/>
                  <a:pt x="249333" y="502114"/>
                </a:cubicBezTo>
                <a:cubicBezTo>
                  <a:pt x="249333" y="502114"/>
                  <a:pt x="249333" y="501162"/>
                  <a:pt x="248380" y="501162"/>
                </a:cubicBezTo>
                <a:cubicBezTo>
                  <a:pt x="237903" y="484017"/>
                  <a:pt x="227425" y="468777"/>
                  <a:pt x="215995" y="457347"/>
                </a:cubicBezTo>
                <a:cubicBezTo>
                  <a:pt x="215995" y="457347"/>
                  <a:pt x="215043" y="458299"/>
                  <a:pt x="215043" y="458299"/>
                </a:cubicBezTo>
                <a:cubicBezTo>
                  <a:pt x="213138" y="460204"/>
                  <a:pt x="168370" y="493542"/>
                  <a:pt x="127413" y="480207"/>
                </a:cubicBezTo>
                <a:cubicBezTo>
                  <a:pt x="86455" y="466872"/>
                  <a:pt x="68358" y="435439"/>
                  <a:pt x="53118" y="409722"/>
                </a:cubicBezTo>
                <a:cubicBezTo>
                  <a:pt x="35973" y="380194"/>
                  <a:pt x="29305" y="374479"/>
                  <a:pt x="13113" y="382099"/>
                </a:cubicBezTo>
                <a:cubicBezTo>
                  <a:pt x="13113" y="382099"/>
                  <a:pt x="13113" y="382099"/>
                  <a:pt x="13113" y="382099"/>
                </a:cubicBezTo>
                <a:cubicBezTo>
                  <a:pt x="8350" y="384004"/>
                  <a:pt x="2635" y="382099"/>
                  <a:pt x="730" y="377337"/>
                </a:cubicBezTo>
                <a:cubicBezTo>
                  <a:pt x="-1175" y="372574"/>
                  <a:pt x="730" y="366859"/>
                  <a:pt x="5493" y="364954"/>
                </a:cubicBezTo>
                <a:cubicBezTo>
                  <a:pt x="5493" y="364954"/>
                  <a:pt x="5493" y="364954"/>
                  <a:pt x="5493" y="364954"/>
                </a:cubicBezTo>
                <a:cubicBezTo>
                  <a:pt x="101695" y="317329"/>
                  <a:pt x="126460" y="311614"/>
                  <a:pt x="173133" y="326854"/>
                </a:cubicBezTo>
                <a:cubicBezTo>
                  <a:pt x="228378" y="344952"/>
                  <a:pt x="233140" y="396387"/>
                  <a:pt x="234093" y="398292"/>
                </a:cubicBezTo>
                <a:cubicBezTo>
                  <a:pt x="234093" y="403054"/>
                  <a:pt x="230283" y="407817"/>
                  <a:pt x="225520" y="408769"/>
                </a:cubicBezTo>
                <a:cubicBezTo>
                  <a:pt x="219805" y="409722"/>
                  <a:pt x="215995" y="404959"/>
                  <a:pt x="215043" y="400197"/>
                </a:cubicBezTo>
                <a:cubicBezTo>
                  <a:pt x="215043" y="398292"/>
                  <a:pt x="210280" y="360192"/>
                  <a:pt x="167418" y="344952"/>
                </a:cubicBezTo>
                <a:cubicBezTo>
                  <a:pt x="132175" y="333522"/>
                  <a:pt x="111220" y="335427"/>
                  <a:pt x="45498" y="366859"/>
                </a:cubicBezTo>
                <a:cubicBezTo>
                  <a:pt x="55023" y="374479"/>
                  <a:pt x="62643" y="386862"/>
                  <a:pt x="70263" y="400197"/>
                </a:cubicBezTo>
                <a:cubicBezTo>
                  <a:pt x="84550" y="424009"/>
                  <a:pt x="100743" y="450679"/>
                  <a:pt x="135033" y="462109"/>
                </a:cubicBezTo>
                <a:cubicBezTo>
                  <a:pt x="165513" y="472587"/>
                  <a:pt x="201708" y="445917"/>
                  <a:pt x="204565" y="444012"/>
                </a:cubicBezTo>
                <a:cubicBezTo>
                  <a:pt x="167418" y="408769"/>
                  <a:pt x="135033" y="401149"/>
                  <a:pt x="134080" y="401149"/>
                </a:cubicBezTo>
                <a:cubicBezTo>
                  <a:pt x="129318" y="400197"/>
                  <a:pt x="125508" y="395434"/>
                  <a:pt x="126460" y="389719"/>
                </a:cubicBezTo>
                <a:cubicBezTo>
                  <a:pt x="127413" y="384957"/>
                  <a:pt x="132175" y="381147"/>
                  <a:pt x="137890" y="382099"/>
                </a:cubicBezTo>
                <a:cubicBezTo>
                  <a:pt x="140748" y="383052"/>
                  <a:pt x="195993" y="395434"/>
                  <a:pt x="246475" y="464014"/>
                </a:cubicBezTo>
                <a:cubicBezTo>
                  <a:pt x="238855" y="277324"/>
                  <a:pt x="318865" y="185884"/>
                  <a:pt x="322675" y="182074"/>
                </a:cubicBezTo>
                <a:cubicBezTo>
                  <a:pt x="326485" y="178264"/>
                  <a:pt x="332200" y="178264"/>
                  <a:pt x="336010" y="181122"/>
                </a:cubicBezTo>
                <a:cubicBezTo>
                  <a:pt x="339820" y="184932"/>
                  <a:pt x="339820" y="190647"/>
                  <a:pt x="336963" y="194457"/>
                </a:cubicBezTo>
                <a:cubicBezTo>
                  <a:pt x="336010" y="195409"/>
                  <a:pt x="287433" y="251607"/>
                  <a:pt x="271240" y="363049"/>
                </a:cubicBezTo>
                <a:lnTo>
                  <a:pt x="281718" y="363049"/>
                </a:lnTo>
                <a:cubicBezTo>
                  <a:pt x="282670" y="363049"/>
                  <a:pt x="383635" y="364954"/>
                  <a:pt x="424593" y="305899"/>
                </a:cubicBezTo>
                <a:cubicBezTo>
                  <a:pt x="467455" y="243987"/>
                  <a:pt x="461740" y="177312"/>
                  <a:pt x="456025" y="123019"/>
                </a:cubicBezTo>
                <a:cubicBezTo>
                  <a:pt x="452215" y="86824"/>
                  <a:pt x="449358" y="51582"/>
                  <a:pt x="464598" y="28722"/>
                </a:cubicBezTo>
                <a:cubicBezTo>
                  <a:pt x="303625" y="58249"/>
                  <a:pt x="264573" y="78252"/>
                  <a:pt x="217900" y="143974"/>
                </a:cubicBezTo>
                <a:cubicBezTo>
                  <a:pt x="161703" y="223984"/>
                  <a:pt x="203613" y="296374"/>
                  <a:pt x="205518" y="299232"/>
                </a:cubicBezTo>
                <a:cubicBezTo>
                  <a:pt x="208375" y="303994"/>
                  <a:pt x="206470" y="309709"/>
                  <a:pt x="202660" y="312567"/>
                </a:cubicBezTo>
                <a:cubicBezTo>
                  <a:pt x="197898" y="315424"/>
                  <a:pt x="192183" y="313519"/>
                  <a:pt x="189325" y="309709"/>
                </a:cubicBezTo>
                <a:cubicBezTo>
                  <a:pt x="187420" y="305899"/>
                  <a:pt x="138843" y="223984"/>
                  <a:pt x="202660" y="133497"/>
                </a:cubicBezTo>
                <a:cubicBezTo>
                  <a:pt x="256953" y="55392"/>
                  <a:pt x="300768" y="37294"/>
                  <a:pt x="511270" y="147"/>
                </a:cubicBezTo>
                <a:cubicBezTo>
                  <a:pt x="516033" y="-806"/>
                  <a:pt x="521748" y="3004"/>
                  <a:pt x="522700" y="7767"/>
                </a:cubicBezTo>
                <a:cubicBezTo>
                  <a:pt x="523653" y="12529"/>
                  <a:pt x="519843" y="18244"/>
                  <a:pt x="515080" y="19197"/>
                </a:cubicBezTo>
                <a:cubicBezTo>
                  <a:pt x="468408" y="26817"/>
                  <a:pt x="468408" y="57297"/>
                  <a:pt x="475075" y="121114"/>
                </a:cubicBezTo>
                <a:cubicBezTo>
                  <a:pt x="480790" y="178264"/>
                  <a:pt x="487458" y="248749"/>
                  <a:pt x="439833" y="316377"/>
                </a:cubicBezTo>
                <a:cubicBezTo>
                  <a:pt x="392208" y="383052"/>
                  <a:pt x="285528" y="381147"/>
                  <a:pt x="280765" y="381147"/>
                </a:cubicBezTo>
                <a:lnTo>
                  <a:pt x="268383" y="381147"/>
                </a:lnTo>
                <a:cubicBezTo>
                  <a:pt x="264573" y="416389"/>
                  <a:pt x="263620" y="455442"/>
                  <a:pt x="268383" y="500209"/>
                </a:cubicBezTo>
                <a:cubicBezTo>
                  <a:pt x="269335" y="504972"/>
                  <a:pt x="265525" y="509734"/>
                  <a:pt x="259810" y="510687"/>
                </a:cubicBezTo>
                <a:cubicBezTo>
                  <a:pt x="259810" y="510687"/>
                  <a:pt x="258858" y="510687"/>
                  <a:pt x="258858" y="510687"/>
                </a:cubicBezTo>
                <a:close/>
              </a:path>
            </a:pathLst>
          </a:custGeom>
          <a:solidFill>
            <a:schemeClr val="tx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572036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840" userDrawn="1">
          <p15:clr>
            <a:srgbClr val="FBAE40"/>
          </p15:clr>
        </p15:guide>
        <p15:guide id="2" orient="horz" pos="238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vmlDrawing" Target="../drawings/vmlDrawing1.v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D601A52-95D7-D524-4F61-2D096734F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294" y="766501"/>
            <a:ext cx="11303794" cy="44319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r>
              <a:rPr lang="en-US" noProof="0" dirty="0"/>
              <a:t>Headline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9C43ACA-D718-36E7-C6CC-C55E1C6B3F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5295" y="2458244"/>
            <a:ext cx="11303794" cy="38600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97488181-00F5-FAD3-25A1-976C924835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5"/>
            </p:custDataLst>
            <p:extLst>
              <p:ext uri="{D42A27DB-BD31-4B8C-83A1-F6EECF244321}">
                <p14:modId xmlns:p14="http://schemas.microsoft.com/office/powerpoint/2010/main" val="21047227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" name="think-cell Slide" r:id="rId16" imgW="347" imgH="348" progId="TCLayout.ActiveDocument.1">
                  <p:embed/>
                </p:oleObj>
              </mc:Choice>
              <mc:Fallback>
                <p:oleObj name="think-cell Slide" r:id="rId16" imgW="347" imgH="348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7488181-00F5-FAD3-25A1-976C92483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F79DCCEA-2BFE-57F0-4229-70772C264D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350960" y="6456513"/>
            <a:ext cx="0" cy="401487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phic 5">
            <a:extLst>
              <a:ext uri="{FF2B5EF4-FFF2-40B4-BE49-F238E27FC236}">
                <a16:creationId xmlns:a16="http://schemas.microsoft.com/office/drawing/2014/main" id="{540A63A3-7CF9-6359-880A-1F18699EF2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51204" y="6404078"/>
            <a:ext cx="590413" cy="28110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4696E-200E-95F0-A8B9-D36E5A58D7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9200" y="6456513"/>
            <a:ext cx="324000" cy="1332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algn="r">
              <a:lnSpc>
                <a:spcPct val="100000"/>
              </a:lnSpc>
              <a:spcBef>
                <a:spcPts val="1000"/>
              </a:spcBef>
              <a:defRPr sz="800" b="0" i="0">
                <a:solidFill>
                  <a:schemeClr val="tx2"/>
                </a:solidFill>
                <a:latin typeface="GFT Corporate Light" pitchFamily="2" charset="0"/>
                <a:cs typeface="GFT Corporate Light" pitchFamily="2" charset="0"/>
              </a:defRPr>
            </a:lvl1pPr>
          </a:lstStyle>
          <a:p>
            <a:pPr>
              <a:spcBef>
                <a:spcPts val="0"/>
              </a:spcBef>
            </a:pPr>
            <a:fld id="{B2508EB9-07EC-4D1A-9A39-1C5283F69653}" type="slidenum">
              <a:rPr lang="en-US" noProof="0" smtClean="0"/>
              <a:pPr>
                <a:spcBef>
                  <a:spcPts val="0"/>
                </a:spcBef>
              </a:pPr>
              <a:t>‹Nr.›</a:t>
            </a:fld>
            <a:endParaRPr lang="en-US" noProof="0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0F05B320-B66D-044E-8BD6-3632FBECDC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76001" y="6456513"/>
            <a:ext cx="2556250" cy="131318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>
            <a:lvl1pPr>
              <a:defRPr lang="de-DE" sz="800" b="0" i="0">
                <a:solidFill>
                  <a:schemeClr val="tx2"/>
                </a:solidFill>
                <a:latin typeface="GFT Corporate Light" pitchFamily="2" charset="0"/>
                <a:cs typeface="GFT Corporate Light" pitchFamily="2" charset="0"/>
              </a:defRPr>
            </a:lvl1pPr>
          </a:lstStyle>
          <a:p>
            <a:pPr>
              <a:lnSpc>
                <a:spcPct val="120000"/>
              </a:lnSpc>
              <a:spcBef>
                <a:spcPts val="500"/>
              </a:spcBef>
              <a:buClr>
                <a:schemeClr val="tx2"/>
              </a:buClr>
            </a:pPr>
            <a:r>
              <a:rPr lang="en-US" dirty="0"/>
              <a:t>Title of Presentation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CDA1B58-277E-BCCC-1950-57EB81CBE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224000" y="6456513"/>
            <a:ext cx="1195200" cy="1332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2"/>
                </a:solidFill>
              </a:defRPr>
            </a:lvl1pPr>
          </a:lstStyle>
          <a:p>
            <a:fld id="{E425F5DC-A670-472C-8764-DD4E51A3863B}" type="datetime4">
              <a:rPr lang="en-US" noProof="0" smtClean="0"/>
              <a:t>April 25, 2026</a:t>
            </a:fld>
            <a:r>
              <a:rPr lang="en-US" noProof="0"/>
              <a:t> </a:t>
            </a:r>
            <a:r>
              <a:rPr lang="en-US" noProof="0" dirty="0"/>
              <a:t>|</a:t>
            </a:r>
          </a:p>
        </p:txBody>
      </p:sp>
    </p:spTree>
    <p:extLst>
      <p:ext uri="{BB962C8B-B14F-4D97-AF65-F5344CB8AC3E}">
        <p14:creationId xmlns:p14="http://schemas.microsoft.com/office/powerpoint/2010/main" val="3124357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82" r:id="rId2"/>
    <p:sldLayoutId id="2147483683" r:id="rId3"/>
    <p:sldLayoutId id="2147483681" r:id="rId4"/>
    <p:sldLayoutId id="2147483684" r:id="rId5"/>
    <p:sldLayoutId id="2147483685" r:id="rId6"/>
    <p:sldLayoutId id="2147483680" r:id="rId7"/>
    <p:sldLayoutId id="2147483674" r:id="rId8"/>
    <p:sldLayoutId id="2147483686" r:id="rId9"/>
    <p:sldLayoutId id="2147483687" r:id="rId10"/>
    <p:sldLayoutId id="2147483688" r:id="rId11"/>
    <p:sldLayoutId id="2147483673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0" i="0" kern="1200">
          <a:solidFill>
            <a:schemeClr val="tx1"/>
          </a:solidFill>
          <a:latin typeface="+mj-lt"/>
          <a:ea typeface="+mj-ea"/>
          <a:cs typeface="GFT Corporate SemiBold" pitchFamily="2" charset="0"/>
        </a:defRPr>
      </a:lvl1pPr>
    </p:titleStyle>
    <p:bodyStyle>
      <a:lvl1pPr marL="180000" indent="-180000" algn="l" defTabSz="914400" rtl="0" eaLnBrk="1" latinLnBrk="0" hangingPunct="1">
        <a:lnSpc>
          <a:spcPct val="120000"/>
        </a:lnSpc>
        <a:spcBef>
          <a:spcPts val="500"/>
        </a:spcBef>
        <a:buClr>
          <a:schemeClr val="tx2"/>
        </a:buClr>
        <a:buFont typeface="Wingdings" panose="05000000000000000000" pitchFamily="2" charset="2"/>
        <a:buChar char="§"/>
        <a:defRPr sz="1200" b="0" i="0" kern="1200">
          <a:solidFill>
            <a:schemeClr val="tx2"/>
          </a:solidFill>
          <a:latin typeface="+mn-lt"/>
          <a:ea typeface="+mn-ea"/>
          <a:cs typeface="GFT Corporate Light" pitchFamily="2" charset="0"/>
        </a:defRPr>
      </a:lvl1pPr>
      <a:lvl2pPr marL="360000" indent="-180000" algn="l" defTabSz="914400" rtl="0" eaLnBrk="1" latinLnBrk="0" hangingPunct="1">
        <a:lnSpc>
          <a:spcPct val="120000"/>
        </a:lnSpc>
        <a:spcBef>
          <a:spcPts val="500"/>
        </a:spcBef>
        <a:buClr>
          <a:schemeClr val="tx2"/>
        </a:buClr>
        <a:buFont typeface="Wingdings" panose="05000000000000000000" pitchFamily="2" charset="2"/>
        <a:buChar char="§"/>
        <a:defRPr sz="1200" b="0" i="0" kern="1200">
          <a:solidFill>
            <a:schemeClr val="tx2"/>
          </a:solidFill>
          <a:latin typeface="+mn-lt"/>
          <a:ea typeface="+mn-ea"/>
          <a:cs typeface="GFT Corporate Light" pitchFamily="2" charset="0"/>
        </a:defRPr>
      </a:lvl2pPr>
      <a:lvl3pPr marL="540000" indent="-180000" algn="l" defTabSz="914400" rtl="0" eaLnBrk="1" latinLnBrk="0" hangingPunct="1">
        <a:lnSpc>
          <a:spcPct val="120000"/>
        </a:lnSpc>
        <a:spcBef>
          <a:spcPts val="500"/>
        </a:spcBef>
        <a:buClr>
          <a:schemeClr val="tx2"/>
        </a:buClr>
        <a:buFont typeface="Wingdings" panose="05000000000000000000" pitchFamily="2" charset="2"/>
        <a:buChar char="§"/>
        <a:defRPr sz="1200" b="0" i="0" kern="1200">
          <a:solidFill>
            <a:schemeClr val="tx2"/>
          </a:solidFill>
          <a:latin typeface="+mn-lt"/>
          <a:ea typeface="+mn-ea"/>
          <a:cs typeface="GFT Corporate Light" pitchFamily="2" charset="0"/>
        </a:defRPr>
      </a:lvl3pPr>
      <a:lvl4pPr marL="720000" indent="-180000" algn="l" defTabSz="914400" rtl="0" eaLnBrk="1" latinLnBrk="0" hangingPunct="1">
        <a:lnSpc>
          <a:spcPct val="120000"/>
        </a:lnSpc>
        <a:spcBef>
          <a:spcPts val="500"/>
        </a:spcBef>
        <a:buClr>
          <a:schemeClr val="tx2"/>
        </a:buClr>
        <a:buFont typeface="Wingdings" panose="05000000000000000000" pitchFamily="2" charset="2"/>
        <a:buChar char="§"/>
        <a:defRPr sz="1200" b="0" i="0" kern="1200">
          <a:solidFill>
            <a:schemeClr val="tx2"/>
          </a:solidFill>
          <a:latin typeface="+mn-lt"/>
          <a:ea typeface="+mn-ea"/>
          <a:cs typeface="GFT Corporate Light" pitchFamily="2" charset="0"/>
        </a:defRPr>
      </a:lvl4pPr>
      <a:lvl5pPr marL="900000" indent="-180000" algn="l" defTabSz="914400" rtl="0" eaLnBrk="1" latinLnBrk="0" hangingPunct="1">
        <a:lnSpc>
          <a:spcPct val="120000"/>
        </a:lnSpc>
        <a:spcBef>
          <a:spcPts val="500"/>
        </a:spcBef>
        <a:buClr>
          <a:schemeClr val="tx2"/>
        </a:buClr>
        <a:buFont typeface="Wingdings" panose="05000000000000000000" pitchFamily="2" charset="2"/>
        <a:buChar char="§"/>
        <a:defRPr sz="1200" b="0" i="0" kern="1200">
          <a:solidFill>
            <a:schemeClr val="tx2"/>
          </a:solidFill>
          <a:latin typeface="+mn-lt"/>
          <a:ea typeface="+mn-ea"/>
          <a:cs typeface="GFT Corporate Light" pitchFamily="2" charset="0"/>
        </a:defRPr>
      </a:lvl5pPr>
      <a:lvl6pPr marL="1080000" indent="-180000" algn="l" defTabSz="914400" rtl="0" eaLnBrk="1" latinLnBrk="0" hangingPunct="1">
        <a:lnSpc>
          <a:spcPct val="120000"/>
        </a:lnSpc>
        <a:spcBef>
          <a:spcPts val="500"/>
        </a:spcBef>
        <a:buFont typeface="Wingdings" panose="05000000000000000000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1260000" indent="-180000" algn="l" defTabSz="914400" rtl="0" eaLnBrk="1" latinLnBrk="0" hangingPunct="1">
        <a:lnSpc>
          <a:spcPct val="120000"/>
        </a:lnSpc>
        <a:spcBef>
          <a:spcPts val="500"/>
        </a:spcBef>
        <a:buFont typeface="Wingdings" panose="05000000000000000000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1440000" indent="-180000" algn="l" defTabSz="914400" rtl="0" eaLnBrk="1" latinLnBrk="0" hangingPunct="1">
        <a:lnSpc>
          <a:spcPct val="120000"/>
        </a:lnSpc>
        <a:spcBef>
          <a:spcPts val="500"/>
        </a:spcBef>
        <a:buFont typeface="Wingdings" panose="05000000000000000000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1620000" indent="-180000" algn="l" defTabSz="914400" rtl="0" eaLnBrk="1" latinLnBrk="0" hangingPunct="1">
        <a:lnSpc>
          <a:spcPct val="120000"/>
        </a:lnSpc>
        <a:spcBef>
          <a:spcPts val="500"/>
        </a:spcBef>
        <a:buFont typeface="Wingdings" panose="05000000000000000000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79" userDrawn="1">
          <p15:clr>
            <a:srgbClr val="F26B43"/>
          </p15:clr>
        </p15:guide>
        <p15:guide id="3" pos="7401" userDrawn="1">
          <p15:clr>
            <a:srgbClr val="F26B43"/>
          </p15:clr>
        </p15:guide>
        <p15:guide id="4" orient="horz" pos="3980" userDrawn="1">
          <p15:clr>
            <a:srgbClr val="F26B43"/>
          </p15:clr>
        </p15:guide>
        <p15:guide id="5" orient="horz" pos="1547" userDrawn="1">
          <p15:clr>
            <a:srgbClr val="F26B43"/>
          </p15:clr>
        </p15:guide>
        <p15:guide id="6" pos="1494" userDrawn="1">
          <p15:clr>
            <a:srgbClr val="F26B43"/>
          </p15:clr>
        </p15:guide>
        <p15:guide id="8" pos="2540" userDrawn="1">
          <p15:clr>
            <a:srgbClr val="F26B43"/>
          </p15:clr>
        </p15:guide>
        <p15:guide id="9" pos="2711" userDrawn="1">
          <p15:clr>
            <a:srgbClr val="F26B43"/>
          </p15:clr>
        </p15:guide>
        <p15:guide id="10" pos="3753" userDrawn="1">
          <p15:clr>
            <a:srgbClr val="F26B43"/>
          </p15:clr>
        </p15:guide>
        <p15:guide id="11" pos="3926" userDrawn="1">
          <p15:clr>
            <a:srgbClr val="F26B43"/>
          </p15:clr>
        </p15:guide>
        <p15:guide id="12" pos="4971" userDrawn="1">
          <p15:clr>
            <a:srgbClr val="F26B43"/>
          </p15:clr>
        </p15:guide>
        <p15:guide id="13" pos="5139" userDrawn="1">
          <p15:clr>
            <a:srgbClr val="F26B43"/>
          </p15:clr>
        </p15:guide>
        <p15:guide id="14" pos="6185" userDrawn="1">
          <p15:clr>
            <a:srgbClr val="F26B43"/>
          </p15:clr>
        </p15:guide>
        <p15:guide id="15" pos="6357" userDrawn="1">
          <p15:clr>
            <a:srgbClr val="F26B43"/>
          </p15:clr>
        </p15:guide>
        <p15:guide id="16" orient="horz" pos="300" userDrawn="1">
          <p15:clr>
            <a:srgbClr val="F26B43"/>
          </p15:clr>
        </p15:guide>
        <p15:guide id="20" orient="horz" pos="4151" userDrawn="1">
          <p15:clr>
            <a:srgbClr val="F26B43"/>
          </p15:clr>
        </p15:guide>
        <p15:guide id="22" pos="1323" userDrawn="1">
          <p15:clr>
            <a:srgbClr val="F26B43"/>
          </p15:clr>
        </p15:guide>
        <p15:guide id="23" orient="horz" pos="48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0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38912" y="914400"/>
            <a:ext cx="384048" cy="73152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38912" y="109728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199E2"/>
                </a:solidFill>
                <a:latin typeface="GFT Corporate Light"/>
              </a:rPr>
              <a:t>Zielarchitektur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1417320"/>
            <a:ext cx="41148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GFT Corporate SemiBold"/>
              </a:rPr>
              <a:t>Backend for</a:t>
            </a:r>
          </a:p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GFT Corporate SemiBold"/>
              </a:rPr>
              <a:t>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3840480"/>
            <a:ext cx="4114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DDE0E5"/>
                </a:solidFill>
                <a:latin typeface="GFT Corporate Light"/>
              </a:rPr>
              <a:t>Einordnung der Entscheidung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DDE0E5"/>
                </a:solidFill>
                <a:latin typeface="GFT Corporate Light"/>
              </a:rPr>
              <a:t>für komplexere Vorhaben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594360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199E2"/>
                </a:solidFill>
                <a:latin typeface="GFT Corporate SemiBold"/>
              </a:rPr>
              <a:t>Theorie · Architektur · Live-Demo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6236208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EB5BD"/>
                </a:solidFill>
                <a:latin typeface="GFT Corporate Light"/>
              </a:rPr>
              <a:t>Für Entscheider und Full-Stack-Entwickler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1097280"/>
            <a:ext cx="6126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06BD6"/>
                </a:solidFill>
                <a:latin typeface="GFT Corporate Light"/>
              </a:rPr>
              <a:t>Kernidee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1417320"/>
            <a:ext cx="612648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/>
              <a:t>Integrations-, Aggregations-</a:t>
            </a:r>
          </a:p>
          <a:p>
            <a:r>
              <a:rPr sz="2000"/>
              <a:t>und Orchestrierungskomplexität</a:t>
            </a:r>
          </a:p>
          <a:p>
            <a:r>
              <a:rPr sz="2000"/>
              <a:t>gezielt ins Backend verlagern.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4206240"/>
            <a:ext cx="2834640" cy="1280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760720" y="4206240"/>
            <a:ext cx="73152" cy="1280160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35040" y="438912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1326"/>
                </a:solidFill>
                <a:latin typeface="GFT Corporate SemiBold"/>
              </a:rPr>
              <a:t>Weniger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8920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/>
              <a:t>Integrationslogik</a:t>
            </a:r>
          </a:p>
          <a:p>
            <a:r>
              <a:rPr sz="1500"/>
              <a:t>im TypeScript-Frontend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0" y="4206240"/>
            <a:ext cx="2834640" cy="1280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778240" y="4206240"/>
            <a:ext cx="73152" cy="1280160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52560" y="438912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1326"/>
                </a:solidFill>
                <a:latin typeface="GFT Corporate SemiBold"/>
              </a:rPr>
              <a:t>Mehr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89204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/>
              <a:t>Kapselung, Sicherheit</a:t>
            </a:r>
          </a:p>
          <a:p>
            <a:r>
              <a:rPr sz="1500"/>
              <a:t>und Änderbarkeit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6236208"/>
            <a:ext cx="6126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AEB5BD"/>
                </a:solidFill>
                <a:latin typeface="GFT Corporate Light"/>
              </a:rPr>
              <a:t>April 2026 |  ·  GFT  ·  Architektur-Session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455664"/>
            <a:ext cx="457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66666"/>
                </a:solidFill>
                <a:latin typeface="GFT Corporate Ligh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475488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65462"/>
                </a:solidFill>
                <a:latin typeface="GFT Corporate Light"/>
              </a:rPr>
              <a:t>BFF bei komplexeren Vorhaben</a:t>
            </a:r>
          </a:p>
        </p:txBody>
      </p:sp>
      <p:sp>
        <p:nvSpPr>
          <p:cNvPr id="3" name="Rectangle 2"/>
          <p:cNvSpPr/>
          <p:nvPr/>
        </p:nvSpPr>
        <p:spPr>
          <a:xfrm>
            <a:off x="438912" y="713232"/>
            <a:ext cx="256032" cy="41148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22992" y="6455664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65462"/>
                </a:solidFill>
                <a:latin typeface="GFT Corporate Light"/>
              </a:rPr>
              <a:t>April 2026 |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55664"/>
            <a:ext cx="457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>
                <a:solidFill>
                  <a:srgbClr val="666666"/>
                </a:solidFill>
                <a:latin typeface="GFT Corporate Ligh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896112"/>
            <a:ext cx="11338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/>
              <a:t>Die Entscheidung ist gefallen —</a:t>
            </a:r>
          </a:p>
          <a:p>
            <a:r>
              <a:rPr sz="2800"/>
              <a:t>jetzt geht es um die Konsequenzen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828800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/>
              <a:t>Bei komplexeren Vorhaben setzen wir auf ein Backend for Frontend.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2606040"/>
            <a:ext cx="3703320" cy="34747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" y="2606040"/>
            <a:ext cx="73152" cy="3474720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28803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1326"/>
                </a:solidFill>
                <a:latin typeface="GFT Corporate SemiBold"/>
              </a:rPr>
              <a:t>Ausgangslage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383280"/>
            <a:ext cx="324612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/>
              <a:t>Mit wachsender Komplexität landen im Frontend Aufgaben wie</a:t>
            </a:r>
          </a:p>
          <a:p>
            <a:r>
              <a:rPr sz="1350"/>
              <a:t>Aggregation, Orchestrierung, Token-Handling und Fehlerlogik.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2606040"/>
            <a:ext cx="3703320" cy="34747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1959" y="2606040"/>
            <a:ext cx="73152" cy="3474720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26279" y="28803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1326"/>
                </a:solidFill>
                <a:latin typeface="GFT Corporate SemiBold"/>
              </a:rPr>
              <a:t>Entscheidung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383280"/>
            <a:ext cx="324612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/>
              <a:t>Für komplexere Vorhaben führen wir ein BFF ein.</a:t>
            </a:r>
          </a:p>
          <a:p>
            <a:r>
              <a:rPr sz="1350"/>
              <a:t>Für einfache Szenarien bleibt Direct-to-Service valide.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65008" y="2606040"/>
            <a:ext cx="3703320" cy="34747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65008" y="2606040"/>
            <a:ext cx="73152" cy="3474720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39328" y="28803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1326"/>
                </a:solidFill>
                <a:latin typeface="GFT Corporate SemiBold"/>
              </a:rPr>
              <a:t>Fokus heute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3383280"/>
            <a:ext cx="324612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/>
              <a:t>Was bedeutet das für Architektur, Entwicklung</a:t>
            </a:r>
          </a:p>
          <a:p>
            <a:r>
              <a:rPr sz="1350"/>
              <a:t>und Zusammenarbeit — und wie zeigt es die Demo?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" y="6263640"/>
            <a:ext cx="11338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/>
              <a:t>Nicht „BFF immer“ — gezielter Einsatz dort, wo Komplexität echten Nutzen bringt.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475488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65462"/>
                </a:solidFill>
                <a:latin typeface="GFT Corporate Light"/>
              </a:rPr>
              <a:t>BFF bei komplexeren Vorhaben</a:t>
            </a:r>
          </a:p>
        </p:txBody>
      </p:sp>
      <p:sp>
        <p:nvSpPr>
          <p:cNvPr id="3" name="Rectangle 2"/>
          <p:cNvSpPr/>
          <p:nvPr/>
        </p:nvSpPr>
        <p:spPr>
          <a:xfrm>
            <a:off x="438912" y="713232"/>
            <a:ext cx="256032" cy="41148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22992" y="6455664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65462"/>
                </a:solidFill>
                <a:latin typeface="GFT Corporate Light"/>
              </a:rPr>
              <a:t>April 2026 |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55664"/>
            <a:ext cx="457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>
                <a:solidFill>
                  <a:srgbClr val="666666"/>
                </a:solidFill>
                <a:latin typeface="GFT Corporate Light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896112"/>
            <a:ext cx="11338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01326"/>
                </a:solidFill>
                <a:latin typeface="GFT Corporate SemiBold"/>
              </a:rPr>
              <a:t>Zwei Ansätze im 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828800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65462"/>
                </a:solidFill>
                <a:latin typeface="GFT Corporate Light"/>
              </a:rPr>
              <a:t>Direct-to-Service SPA vs. SPA mit Backend for Frontend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2514600"/>
            <a:ext cx="5577840" cy="3291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" y="2514600"/>
            <a:ext cx="73152" cy="3291840"/>
          </a:xfrm>
          <a:prstGeom prst="rect">
            <a:avLst/>
          </a:prstGeom>
          <a:solidFill>
            <a:srgbClr val="4654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2697480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1326"/>
                </a:solidFill>
                <a:latin typeface="GFT Corporate SemiBold"/>
              </a:rPr>
              <a:t>Direct-to-Service SPA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044952"/>
            <a:ext cx="5120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/>
              <a:t>Frontend spricht direkt</a:t>
            </a:r>
          </a:p>
          <a:p>
            <a:r>
              <a:rPr sz="1300"/>
              <a:t>mit mehreren Services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21991" y="3474720"/>
            <a:ext cx="20116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13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100" b="1">
                <a:solidFill>
                  <a:srgbClr val="001326"/>
                </a:solidFill>
                <a:latin typeface="GFT Corporate SemiBold"/>
              </a:rPr>
              <a:t>Frontend (SPA / TypeScript)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3" y="4800600"/>
            <a:ext cx="11887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E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100">
                <a:solidFill>
                  <a:srgbClr val="001326"/>
                </a:solidFill>
                <a:latin typeface="GFT Corporate Light"/>
              </a:rPr>
              <a:t>Auth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56815" y="4800600"/>
            <a:ext cx="11887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E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100">
                <a:solidFill>
                  <a:srgbClr val="001326"/>
                </a:solidFill>
                <a:latin typeface="GFT Corporate Light"/>
              </a:rPr>
              <a:t>Service 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0127" y="4800600"/>
            <a:ext cx="11887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E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100">
                <a:solidFill>
                  <a:srgbClr val="001326"/>
                </a:solidFill>
                <a:latin typeface="GFT Corporate Light"/>
              </a:rPr>
              <a:t>Service 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4800600"/>
            <a:ext cx="11887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E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100">
                <a:solidFill>
                  <a:srgbClr val="001326"/>
                </a:solidFill>
                <a:latin typeface="GFT Corporate Light"/>
              </a:rPr>
              <a:t>Service C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1197863" y="4114800"/>
            <a:ext cx="2029969" cy="685800"/>
          </a:xfrm>
          <a:prstGeom prst="line">
            <a:avLst/>
          </a:prstGeom>
          <a:ln w="19050">
            <a:solidFill>
              <a:srgbClr val="46546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551175" y="4114800"/>
            <a:ext cx="676657" cy="685800"/>
          </a:xfrm>
          <a:prstGeom prst="line">
            <a:avLst/>
          </a:prstGeom>
          <a:ln w="19050">
            <a:solidFill>
              <a:srgbClr val="46546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227832" y="4114800"/>
            <a:ext cx="676655" cy="685800"/>
          </a:xfrm>
          <a:prstGeom prst="line">
            <a:avLst/>
          </a:prstGeom>
          <a:ln w="19050">
            <a:solidFill>
              <a:srgbClr val="46546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27832" y="4114800"/>
            <a:ext cx="2029968" cy="685800"/>
          </a:xfrm>
          <a:prstGeom prst="line">
            <a:avLst/>
          </a:prstGeom>
          <a:ln w="19050">
            <a:solidFill>
              <a:srgbClr val="46546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245352" y="2514600"/>
            <a:ext cx="5577840" cy="3291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45352" y="2514600"/>
            <a:ext cx="73152" cy="3291840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19672" y="2697480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dirty="0">
                <a:solidFill>
                  <a:srgbClr val="001326"/>
                </a:solidFill>
                <a:latin typeface="GFT Corporate SemiBold"/>
              </a:rPr>
              <a:t>SPA </a:t>
            </a:r>
            <a:r>
              <a:rPr sz="1500" b="1" dirty="0" err="1">
                <a:solidFill>
                  <a:srgbClr val="001326"/>
                </a:solidFill>
                <a:latin typeface="GFT Corporate SemiBold"/>
              </a:rPr>
              <a:t>mit</a:t>
            </a:r>
            <a:r>
              <a:rPr sz="1500" b="1" dirty="0">
                <a:solidFill>
                  <a:srgbClr val="001326"/>
                </a:solidFill>
                <a:latin typeface="GFT Corporate SemiBold"/>
              </a:rPr>
              <a:t> BFF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3044952"/>
            <a:ext cx="5120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/>
              <a:t>Ein zentraler Call —</a:t>
            </a:r>
          </a:p>
          <a:p>
            <a:r>
              <a:rPr sz="1300"/>
              <a:t>ein klarer Vertrag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9288" y="2953512"/>
            <a:ext cx="20116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13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100" b="1" dirty="0">
                <a:solidFill>
                  <a:srgbClr val="001326"/>
                </a:solidFill>
                <a:latin typeface="GFT Corporate SemiBold"/>
              </a:rPr>
              <a:t>Frontend (SPA / TypeScript)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19288" y="3913632"/>
            <a:ext cx="2011680" cy="548640"/>
          </a:xfrm>
          <a:prstGeom prst="roundRect">
            <a:avLst>
              <a:gd name="adj" fmla="val 4000"/>
            </a:avLst>
          </a:prstGeom>
          <a:solidFill>
            <a:srgbClr val="006BD6"/>
          </a:solidFill>
          <a:ln w="12700">
            <a:solidFill>
              <a:srgbClr val="006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GFT Corporate SemiBold"/>
              </a:rPr>
              <a:t>BFF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9944" y="4800600"/>
            <a:ext cx="11887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E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100">
                <a:solidFill>
                  <a:srgbClr val="001326"/>
                </a:solidFill>
                <a:latin typeface="GFT Corporate Light"/>
              </a:rPr>
              <a:t>Auth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63256" y="4800600"/>
            <a:ext cx="11887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E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100">
                <a:solidFill>
                  <a:srgbClr val="001326"/>
                </a:solidFill>
                <a:latin typeface="GFT Corporate Light"/>
              </a:rPr>
              <a:t>Service 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16567" y="4800600"/>
            <a:ext cx="11887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E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100">
                <a:solidFill>
                  <a:srgbClr val="001326"/>
                </a:solidFill>
                <a:latin typeface="GFT Corporate Light"/>
              </a:rPr>
              <a:t>Service 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69880" y="4800600"/>
            <a:ext cx="11887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E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100">
                <a:solidFill>
                  <a:srgbClr val="001326"/>
                </a:solidFill>
                <a:latin typeface="GFT Corporate Light"/>
              </a:rPr>
              <a:t>Service C</a:t>
            </a:r>
          </a:p>
        </p:txBody>
      </p:sp>
      <p:cxnSp>
        <p:nvCxnSpPr>
          <p:cNvPr id="32" name="Connector 31"/>
          <p:cNvCxnSpPr>
            <a:cxnSpLocks/>
          </p:cNvCxnSpPr>
          <p:nvPr/>
        </p:nvCxnSpPr>
        <p:spPr>
          <a:xfrm>
            <a:off x="9025128" y="3593592"/>
            <a:ext cx="0" cy="320273"/>
          </a:xfrm>
          <a:prstGeom prst="line">
            <a:avLst/>
          </a:prstGeom>
          <a:ln w="25400">
            <a:solidFill>
              <a:srgbClr val="006BD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cxnSpLocks/>
            <a:endCxn id="31" idx="0"/>
          </p:cNvCxnSpPr>
          <p:nvPr/>
        </p:nvCxnSpPr>
        <p:spPr>
          <a:xfrm>
            <a:off x="9070076" y="4465650"/>
            <a:ext cx="1994164" cy="334950"/>
          </a:xfrm>
          <a:prstGeom prst="line">
            <a:avLst/>
          </a:prstGeom>
          <a:ln w="19050">
            <a:solidFill>
              <a:srgbClr val="006BD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cxnSpLocks/>
            <a:endCxn id="30" idx="0"/>
          </p:cNvCxnSpPr>
          <p:nvPr/>
        </p:nvCxnSpPr>
        <p:spPr>
          <a:xfrm>
            <a:off x="8998467" y="4443592"/>
            <a:ext cx="712460" cy="357008"/>
          </a:xfrm>
          <a:prstGeom prst="line">
            <a:avLst/>
          </a:prstGeom>
          <a:ln w="19050">
            <a:solidFill>
              <a:srgbClr val="006BD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cxnSpLocks/>
            <a:endCxn id="29" idx="0"/>
          </p:cNvCxnSpPr>
          <p:nvPr/>
        </p:nvCxnSpPr>
        <p:spPr>
          <a:xfrm flipH="1">
            <a:off x="8357616" y="4478260"/>
            <a:ext cx="676656" cy="322340"/>
          </a:xfrm>
          <a:prstGeom prst="line">
            <a:avLst/>
          </a:prstGeom>
          <a:ln w="19050">
            <a:solidFill>
              <a:srgbClr val="006BD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cxnSpLocks/>
            <a:endCxn id="28" idx="0"/>
          </p:cNvCxnSpPr>
          <p:nvPr/>
        </p:nvCxnSpPr>
        <p:spPr>
          <a:xfrm flipH="1">
            <a:off x="7004304" y="4456288"/>
            <a:ext cx="2056016" cy="344312"/>
          </a:xfrm>
          <a:prstGeom prst="line">
            <a:avLst/>
          </a:prstGeom>
          <a:ln w="19050">
            <a:solidFill>
              <a:srgbClr val="006BD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38912" y="5989320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/>
              <a:t>Viele Verantwortlichkeiten</a:t>
            </a:r>
          </a:p>
          <a:p>
            <a:r>
              <a:rPr sz="1250"/>
              <a:t>im Client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2" y="5989320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/>
              <a:t>Komplexität gekapselt</a:t>
            </a:r>
          </a:p>
          <a:p>
            <a:r>
              <a:rPr sz="1250"/>
              <a:t>im Backend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475488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65462"/>
                </a:solidFill>
                <a:latin typeface="GFT Corporate Light"/>
              </a:rPr>
              <a:t>BFF bei komplexeren Vorhaben</a:t>
            </a:r>
          </a:p>
        </p:txBody>
      </p:sp>
      <p:sp>
        <p:nvSpPr>
          <p:cNvPr id="3" name="Rectangle 2"/>
          <p:cNvSpPr/>
          <p:nvPr/>
        </p:nvSpPr>
        <p:spPr>
          <a:xfrm>
            <a:off x="438912" y="713232"/>
            <a:ext cx="256032" cy="41148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22992" y="6455664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65462"/>
                </a:solidFill>
                <a:latin typeface="GFT Corporate Light"/>
              </a:rPr>
              <a:t>April 2026 |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55664"/>
            <a:ext cx="457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>
                <a:solidFill>
                  <a:srgbClr val="666666"/>
                </a:solidFill>
                <a:latin typeface="GFT Corporate Light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896112"/>
            <a:ext cx="11338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01326"/>
                </a:solidFill>
                <a:latin typeface="GFT Corporate SemiBold"/>
              </a:rPr>
              <a:t>Was sich wirklich ändert: Verantwortlichkeiten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828800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/>
              <a:t>Nicht nur der Request-Pfad — sondern wer welche Aufgabe übernimmt.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2514600"/>
            <a:ext cx="4114800" cy="411480"/>
          </a:xfrm>
          <a:prstGeom prst="rect">
            <a:avLst/>
          </a:prstGeom>
          <a:solidFill>
            <a:srgbClr val="00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99432" y="2514600"/>
            <a:ext cx="3657600" cy="411480"/>
          </a:xfrm>
          <a:prstGeom prst="rect">
            <a:avLst/>
          </a:prstGeom>
          <a:solidFill>
            <a:srgbClr val="4654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302752" y="2514600"/>
            <a:ext cx="3657600" cy="411480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258775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GFT Corporate SemiBold"/>
              </a:rPr>
              <a:t>Verantwortlichkeit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58775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GFT Corporate SemiBold"/>
              </a:rPr>
              <a:t>Direct-to-Service (No-BFF)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258775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GFT Corporate SemiBold"/>
              </a:rPr>
              <a:t>Mit BFF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926080"/>
            <a:ext cx="115214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" y="304495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1326"/>
                </a:solidFill>
                <a:latin typeface="GFT Corporate SemiBold"/>
              </a:rPr>
              <a:t>Authentifizierung / Token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304495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65462"/>
                </a:solidFill>
                <a:latin typeface="GFT Corporate Light"/>
              </a:rPr>
              <a:t>im Browser sichtbar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304495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6BD6"/>
                </a:solidFill>
                <a:latin typeface="GFT Corporate Light"/>
              </a:rPr>
              <a:t>gekapselt im BFF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3429000"/>
            <a:ext cx="11521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" y="354787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1326"/>
                </a:solidFill>
                <a:latin typeface="GFT Corporate SemiBold"/>
              </a:rPr>
              <a:t>Aggregation mehrerer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82312" y="354787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65462"/>
                </a:solidFill>
                <a:latin typeface="GFT Corporate Light"/>
              </a:rPr>
              <a:t>im TypeScript-Client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5632" y="354787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6BD6"/>
                </a:solidFill>
                <a:latin typeface="GFT Corporate Light"/>
              </a:rPr>
              <a:t>im Backend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3931920"/>
            <a:ext cx="115214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" y="405079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1326"/>
                </a:solidFill>
                <a:latin typeface="GFT Corporate SemiBold"/>
              </a:rPr>
              <a:t>Orchestrierung von Abläufen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82312" y="405079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65462"/>
                </a:solidFill>
                <a:latin typeface="GFT Corporate Light"/>
              </a:rPr>
              <a:t>im Frontend verstreut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85632" y="405079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6BD6"/>
                </a:solidFill>
                <a:latin typeface="GFT Corporate Light"/>
              </a:rPr>
              <a:t>zentral im Backend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" y="4434840"/>
            <a:ext cx="11521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1792" y="455371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1326"/>
                </a:solidFill>
                <a:latin typeface="GFT Corporate SemiBold"/>
              </a:rPr>
              <a:t>Fehler- und Kompensationslogik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82312" y="455371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65462"/>
                </a:solidFill>
                <a:latin typeface="GFT Corporate Light"/>
              </a:rPr>
              <a:t>Client-seitige Saga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85632" y="455371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6BD6"/>
                </a:solidFill>
                <a:latin typeface="GFT Corporate Light"/>
              </a:rPr>
              <a:t>Backend-Saga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" y="4937760"/>
            <a:ext cx="115214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1792" y="505663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1326"/>
                </a:solidFill>
                <a:latin typeface="GFT Corporate SemiBold"/>
              </a:rPr>
              <a:t>Interne Service-Topologie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82312" y="505663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65462"/>
                </a:solidFill>
                <a:latin typeface="GFT Corporate Light"/>
              </a:rPr>
              <a:t>im Client sichtbar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5632" y="505663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6BD6"/>
                </a:solidFill>
                <a:latin typeface="GFT Corporate Light"/>
              </a:rPr>
              <a:t>gegen Client gekapselt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" y="5440680"/>
            <a:ext cx="11521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1792" y="555955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1326"/>
                </a:solidFill>
                <a:latin typeface="GFT Corporate SemiBold"/>
              </a:rPr>
              <a:t>Integrationslogik in TypeScript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82312" y="555955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65462"/>
                </a:solidFill>
                <a:latin typeface="GFT Corporate Light"/>
              </a:rPr>
              <a:t>wächst mit Komplexität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85632" y="555955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6BD6"/>
                </a:solidFill>
                <a:latin typeface="GFT Corporate Light"/>
              </a:rPr>
              <a:t>bleibt schlank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" y="6080760"/>
            <a:ext cx="11338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/>
              <a:t>Weniger Integrationslogik in TypeScript bedeutet in der Regel: weniger Wartung im Frontend.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475488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65462"/>
                </a:solidFill>
                <a:latin typeface="GFT Corporate Light"/>
              </a:rPr>
              <a:t>BFF bei komplexeren Vorhaben</a:t>
            </a:r>
          </a:p>
        </p:txBody>
      </p:sp>
      <p:sp>
        <p:nvSpPr>
          <p:cNvPr id="3" name="Rectangle 2"/>
          <p:cNvSpPr/>
          <p:nvPr/>
        </p:nvSpPr>
        <p:spPr>
          <a:xfrm>
            <a:off x="438912" y="713232"/>
            <a:ext cx="256032" cy="41148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22992" y="6455664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65462"/>
                </a:solidFill>
                <a:latin typeface="GFT Corporate Light"/>
              </a:rPr>
              <a:t>April 2026 |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55664"/>
            <a:ext cx="457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>
                <a:solidFill>
                  <a:srgbClr val="666666"/>
                </a:solidFill>
                <a:latin typeface="GFT Corporate Light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896112"/>
            <a:ext cx="11338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01326"/>
                </a:solidFill>
                <a:latin typeface="GFT Corporate SemiBold"/>
              </a:rPr>
              <a:t>Was die Entscheidung für die Beteiligten bedeutet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828800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/>
              <a:t>Drei Perspektiven auf dieselbe Architekturentscheidung.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2560320"/>
            <a:ext cx="3703320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0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" y="2560320"/>
            <a:ext cx="3703320" cy="109728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28803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1326"/>
                </a:solidFill>
                <a:latin typeface="GFT Corporate SemiBold"/>
              </a:rPr>
              <a:t>Entscheider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27355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6BD6"/>
                </a:solidFill>
                <a:latin typeface="GFT Corporate Light"/>
              </a:rPr>
              <a:t>Risiko &amp; Änderbarkeit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749039"/>
            <a:ext cx="73152" cy="73152"/>
          </a:xfrm>
          <a:prstGeom prst="ellipse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" y="3675887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/>
              <a:t>Komplexität liegt dort,</a:t>
            </a:r>
          </a:p>
          <a:p>
            <a:r>
              <a:rPr sz="1250"/>
              <a:t>wo sie beherrschbar ist.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4526279"/>
            <a:ext cx="73152" cy="73152"/>
          </a:xfrm>
          <a:prstGeom prst="ellipse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6112" y="4453127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/>
              <a:t>Frontend-Änderungen werden planbarer,</a:t>
            </a:r>
          </a:p>
          <a:p>
            <a:r>
              <a:rPr sz="1250"/>
              <a:t>weil Integrationslogik im Backend bleibt.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5303519"/>
            <a:ext cx="73152" cy="73152"/>
          </a:xfrm>
          <a:prstGeom prst="ellipse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6112" y="5230367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/>
              <a:t>Weniger Kopplung des Clients</a:t>
            </a:r>
          </a:p>
          <a:p>
            <a:r>
              <a:rPr sz="1250"/>
              <a:t>an interne Service-Zuschnitte.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59" y="2560320"/>
            <a:ext cx="3703320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0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51959" y="2560320"/>
            <a:ext cx="3703320" cy="109728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26279" y="28803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1326"/>
                </a:solidFill>
                <a:latin typeface="GFT Corporate SemiBold"/>
              </a:rPr>
              <a:t>Architekten / Lead Devs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79" y="327355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6BD6"/>
                </a:solidFill>
                <a:latin typeface="GFT Corporate Light"/>
              </a:rPr>
              <a:t>Schnitt &amp; Verträge</a:t>
            </a:r>
          </a:p>
        </p:txBody>
      </p:sp>
      <p:sp>
        <p:nvSpPr>
          <p:cNvPr id="23" name="Oval 22"/>
          <p:cNvSpPr/>
          <p:nvPr/>
        </p:nvSpPr>
        <p:spPr>
          <a:xfrm>
            <a:off x="4544568" y="3749039"/>
            <a:ext cx="73152" cy="73152"/>
          </a:xfrm>
          <a:prstGeom prst="ellipse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09159" y="3675887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/>
              <a:t>Eine fachlich geprägte BFF-Schnittstelle</a:t>
            </a:r>
          </a:p>
          <a:p>
            <a:r>
              <a:rPr sz="1250"/>
              <a:t>statt vieler Einzelverträge im Client.</a:t>
            </a:r>
          </a:p>
        </p:txBody>
      </p:sp>
      <p:sp>
        <p:nvSpPr>
          <p:cNvPr id="25" name="Oval 24"/>
          <p:cNvSpPr/>
          <p:nvPr/>
        </p:nvSpPr>
        <p:spPr>
          <a:xfrm>
            <a:off x="4544568" y="4526279"/>
            <a:ext cx="73152" cy="73152"/>
          </a:xfrm>
          <a:prstGeom prst="ellipse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09159" y="4453127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/>
              <a:t>Aggregation und Orchestrierung</a:t>
            </a:r>
          </a:p>
          <a:p>
            <a:r>
              <a:rPr sz="1250"/>
              <a:t>an einer zentralen, testbaren Stelle.</a:t>
            </a:r>
          </a:p>
        </p:txBody>
      </p:sp>
      <p:sp>
        <p:nvSpPr>
          <p:cNvPr id="27" name="Oval 26"/>
          <p:cNvSpPr/>
          <p:nvPr/>
        </p:nvSpPr>
        <p:spPr>
          <a:xfrm>
            <a:off x="4544568" y="5303519"/>
            <a:ext cx="73152" cy="73152"/>
          </a:xfrm>
          <a:prstGeom prst="ellipse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09159" y="5230367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/>
              <a:t>Backend-Refactorings treffen das Frontend</a:t>
            </a:r>
          </a:p>
          <a:p>
            <a:r>
              <a:rPr sz="1250"/>
              <a:t>spürbar seltener.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65008" y="2560320"/>
            <a:ext cx="3703320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0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65008" y="2560320"/>
            <a:ext cx="3703320" cy="109728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39328" y="28803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1326"/>
                </a:solidFill>
                <a:latin typeface="GFT Corporate SemiBold"/>
              </a:rPr>
              <a:t>Full-Stack-Entwickler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8" y="327355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6BD6"/>
                </a:solidFill>
                <a:latin typeface="GFT Corporate Light"/>
              </a:rPr>
              <a:t>Alltag in TypeScript</a:t>
            </a:r>
          </a:p>
        </p:txBody>
      </p:sp>
      <p:sp>
        <p:nvSpPr>
          <p:cNvPr id="33" name="Oval 32"/>
          <p:cNvSpPr/>
          <p:nvPr/>
        </p:nvSpPr>
        <p:spPr>
          <a:xfrm>
            <a:off x="8357616" y="3749039"/>
            <a:ext cx="73152" cy="73152"/>
          </a:xfrm>
          <a:prstGeom prst="ellipse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522208" y="3675887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/>
              <a:t>Weniger Token-, Auth- und</a:t>
            </a:r>
          </a:p>
          <a:p>
            <a:r>
              <a:rPr sz="1250"/>
              <a:t>Aggregationslogik im Browser.</a:t>
            </a:r>
          </a:p>
        </p:txBody>
      </p:sp>
      <p:sp>
        <p:nvSpPr>
          <p:cNvPr id="35" name="Oval 34"/>
          <p:cNvSpPr/>
          <p:nvPr/>
        </p:nvSpPr>
        <p:spPr>
          <a:xfrm>
            <a:off x="8357616" y="4526279"/>
            <a:ext cx="73152" cy="73152"/>
          </a:xfrm>
          <a:prstGeom prst="ellipse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522208" y="4453127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/>
              <a:t>Fokus auf UI, Interaktion und View-State</a:t>
            </a:r>
          </a:p>
          <a:p>
            <a:r>
              <a:rPr sz="1250"/>
              <a:t>statt Integrations-Boilerplate.</a:t>
            </a:r>
          </a:p>
        </p:txBody>
      </p:sp>
      <p:sp>
        <p:nvSpPr>
          <p:cNvPr id="37" name="Oval 36"/>
          <p:cNvSpPr/>
          <p:nvPr/>
        </p:nvSpPr>
        <p:spPr>
          <a:xfrm>
            <a:off x="8357616" y="5303519"/>
            <a:ext cx="73152" cy="73152"/>
          </a:xfrm>
          <a:prstGeom prst="ellipse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522208" y="5230367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/>
              <a:t>Bei komplexen Writes keine clientseitige</a:t>
            </a:r>
          </a:p>
          <a:p>
            <a:r>
              <a:rPr sz="1250"/>
              <a:t>Orchestrierung und Kompensation mehr.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475488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65462"/>
                </a:solidFill>
                <a:latin typeface="GFT Corporate Light"/>
              </a:rPr>
              <a:t>BFF bei komplexeren Vorhaben</a:t>
            </a:r>
          </a:p>
        </p:txBody>
      </p:sp>
      <p:sp>
        <p:nvSpPr>
          <p:cNvPr id="3" name="Rectangle 2"/>
          <p:cNvSpPr/>
          <p:nvPr/>
        </p:nvSpPr>
        <p:spPr>
          <a:xfrm>
            <a:off x="438912" y="713232"/>
            <a:ext cx="256032" cy="41148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22992" y="6455664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65462"/>
                </a:solidFill>
                <a:latin typeface="GFT Corporate Light"/>
              </a:rPr>
              <a:t>April 2026 |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55664"/>
            <a:ext cx="457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>
                <a:solidFill>
                  <a:srgbClr val="666666"/>
                </a:solidFill>
                <a:latin typeface="GFT Corporate Light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896112"/>
            <a:ext cx="11338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01326"/>
                </a:solidFill>
                <a:latin typeface="GFT Corporate SemiBold"/>
              </a:rPr>
              <a:t>Schon bei Reads: Aggregation gehört ins 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828800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/>
              <a:t>Der Unterschied beginnt schon vor komplexen Writes.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2514600"/>
            <a:ext cx="5577840" cy="33832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" y="2514600"/>
            <a:ext cx="73152" cy="3383280"/>
          </a:xfrm>
          <a:prstGeom prst="rect">
            <a:avLst/>
          </a:prstGeom>
          <a:solidFill>
            <a:srgbClr val="4654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2697480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1326"/>
                </a:solidFill>
                <a:latin typeface="GFT Corporate SemiBold"/>
              </a:rPr>
              <a:t>No-BFF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044952"/>
            <a:ext cx="5120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65462"/>
                </a:solidFill>
                <a:latin typeface="GFT Corporate Light"/>
              </a:rPr>
              <a:t>Aggregation im TypeScript-Client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977640"/>
            <a:ext cx="173736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13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1326"/>
                </a:solidFill>
                <a:latin typeface="GFT Corporate SemiBold"/>
              </a:rPr>
              <a:t>Frontend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05072" y="3383280"/>
            <a:ext cx="155448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E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001326"/>
                </a:solidFill>
                <a:latin typeface="GFT Corporate Light"/>
              </a:rPr>
              <a:t>Service 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05072" y="4023360"/>
            <a:ext cx="155448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E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001326"/>
                </a:solidFill>
                <a:latin typeface="GFT Corporate Light"/>
              </a:rPr>
              <a:t>Service 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05072" y="4663440"/>
            <a:ext cx="155448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E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001326"/>
                </a:solidFill>
                <a:latin typeface="GFT Corporate Light"/>
              </a:rPr>
              <a:t>Service C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514600" y="3611880"/>
            <a:ext cx="1490472" cy="640080"/>
          </a:xfrm>
          <a:prstGeom prst="line">
            <a:avLst/>
          </a:prstGeom>
          <a:ln w="19050">
            <a:solidFill>
              <a:srgbClr val="46546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514600" y="4251960"/>
            <a:ext cx="1490472" cy="0"/>
          </a:xfrm>
          <a:prstGeom prst="line">
            <a:avLst/>
          </a:prstGeom>
          <a:ln w="19050">
            <a:solidFill>
              <a:srgbClr val="46546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514600" y="4251960"/>
            <a:ext cx="1490472" cy="640080"/>
          </a:xfrm>
          <a:prstGeom prst="line">
            <a:avLst/>
          </a:prstGeom>
          <a:ln w="19050">
            <a:solidFill>
              <a:srgbClr val="46546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12063" y="5303520"/>
            <a:ext cx="5486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41324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/>
              <a:t>Mehrere Calls · Fan-out im Client</a:t>
            </a:r>
          </a:p>
          <a:p>
            <a:r>
              <a:rPr sz="1250"/>
              <a:t>· Client kennt den Service-Zuschnitt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45352" y="2514600"/>
            <a:ext cx="5577840" cy="33832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45352" y="2514600"/>
            <a:ext cx="73152" cy="3383280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19672" y="2697480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1326"/>
                </a:solidFill>
                <a:latin typeface="GFT Corporate SemiBold"/>
              </a:rPr>
              <a:t>Mit BFF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3044952"/>
            <a:ext cx="5120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65462"/>
                </a:solidFill>
                <a:latin typeface="GFT Corporate Light"/>
              </a:rPr>
              <a:t>Aggregation gekapselt im Backend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3977640"/>
            <a:ext cx="173736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13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1326"/>
                </a:solidFill>
                <a:latin typeface="GFT Corporate SemiBold"/>
              </a:rPr>
              <a:t>Frontend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33304" y="3371486"/>
            <a:ext cx="155448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E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dirty="0">
                <a:solidFill>
                  <a:srgbClr val="001326"/>
                </a:solidFill>
                <a:latin typeface="GFT Corporate Light"/>
              </a:rPr>
              <a:t>Service 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433304" y="4011566"/>
            <a:ext cx="155448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E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001326"/>
                </a:solidFill>
                <a:latin typeface="GFT Corporate Light"/>
              </a:rPr>
              <a:t>Service 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33304" y="4651646"/>
            <a:ext cx="155448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E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001326"/>
                </a:solidFill>
                <a:latin typeface="GFT Corporate Light"/>
              </a:rPr>
              <a:t>Service 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41080" y="3977640"/>
            <a:ext cx="1463040" cy="548640"/>
          </a:xfrm>
          <a:prstGeom prst="roundRect">
            <a:avLst>
              <a:gd name="adj" fmla="val 4000"/>
            </a:avLst>
          </a:prstGeom>
          <a:solidFill>
            <a:srgbClr val="006BD6"/>
          </a:solidFill>
          <a:ln w="12700">
            <a:solidFill>
              <a:srgbClr val="006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GFT Corporate SemiBold"/>
              </a:rPr>
              <a:t>BFF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138160" y="4251960"/>
            <a:ext cx="502920" cy="0"/>
          </a:xfrm>
          <a:prstGeom prst="line">
            <a:avLst/>
          </a:prstGeom>
          <a:ln w="25400">
            <a:solidFill>
              <a:srgbClr val="006BD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cxnSpLocks/>
            <a:endCxn id="27" idx="1"/>
          </p:cNvCxnSpPr>
          <p:nvPr/>
        </p:nvCxnSpPr>
        <p:spPr>
          <a:xfrm flipV="1">
            <a:off x="10104120" y="3600086"/>
            <a:ext cx="329184" cy="377554"/>
          </a:xfrm>
          <a:prstGeom prst="line">
            <a:avLst/>
          </a:prstGeom>
          <a:ln w="19050">
            <a:solidFill>
              <a:srgbClr val="006BD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cxnSpLocks/>
            <a:endCxn id="28" idx="1"/>
          </p:cNvCxnSpPr>
          <p:nvPr/>
        </p:nvCxnSpPr>
        <p:spPr>
          <a:xfrm>
            <a:off x="10104120" y="4240166"/>
            <a:ext cx="329184" cy="0"/>
          </a:xfrm>
          <a:prstGeom prst="line">
            <a:avLst/>
          </a:prstGeom>
          <a:ln w="19050">
            <a:solidFill>
              <a:srgbClr val="006BD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cxnSpLocks/>
          </p:cNvCxnSpPr>
          <p:nvPr/>
        </p:nvCxnSpPr>
        <p:spPr>
          <a:xfrm>
            <a:off x="10104120" y="4526280"/>
            <a:ext cx="329184" cy="377554"/>
          </a:xfrm>
          <a:prstGeom prst="line">
            <a:avLst/>
          </a:prstGeom>
          <a:ln w="19050">
            <a:solidFill>
              <a:srgbClr val="006BD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927848" y="3456432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6BD6"/>
                </a:solidFill>
                <a:latin typeface="GFT Corporate SemiBold"/>
              </a:rPr>
              <a:t>1 Call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18504" y="5303520"/>
            <a:ext cx="5486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19672" y="541324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/>
              <a:t>Ein Call · klarer Vertrag</a:t>
            </a:r>
          </a:p>
          <a:p>
            <a:r>
              <a:rPr sz="1250"/>
              <a:t>· Service-Zuschnitt bleibt unsichtbar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" y="6080760"/>
            <a:ext cx="11338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/>
              <a:t>Ändern sich Services oder Zuschnitte, bleibt das Frontend stabiler — der Vertrag ist das BFF.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475488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65462"/>
                </a:solidFill>
                <a:latin typeface="GFT Corporate Light"/>
              </a:rPr>
              <a:t>BFF bei komplexeren Vorhaben</a:t>
            </a:r>
          </a:p>
        </p:txBody>
      </p:sp>
      <p:sp>
        <p:nvSpPr>
          <p:cNvPr id="3" name="Rectangle 2"/>
          <p:cNvSpPr/>
          <p:nvPr/>
        </p:nvSpPr>
        <p:spPr>
          <a:xfrm>
            <a:off x="438912" y="713232"/>
            <a:ext cx="256032" cy="41148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22992" y="6455664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65462"/>
                </a:solidFill>
                <a:latin typeface="GFT Corporate Light"/>
              </a:rPr>
              <a:t>April 2026 |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55664"/>
            <a:ext cx="457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>
                <a:solidFill>
                  <a:srgbClr val="666666"/>
                </a:solidFill>
                <a:latin typeface="GFT Corporate Light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896112"/>
            <a:ext cx="11338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01326"/>
                </a:solidFill>
                <a:latin typeface="GFT Corporate SemiBold"/>
              </a:rPr>
              <a:t>Komplexe Writes: Orchestrierung gehört ans richtige Ende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828800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dirty="0" err="1"/>
              <a:t>Keine</a:t>
            </a:r>
            <a:r>
              <a:rPr sz="1450" dirty="0"/>
              <a:t> </a:t>
            </a:r>
            <a:r>
              <a:rPr sz="1450" dirty="0" err="1"/>
              <a:t>globale</a:t>
            </a:r>
            <a:r>
              <a:rPr sz="1450" dirty="0"/>
              <a:t> </a:t>
            </a:r>
            <a:r>
              <a:rPr sz="1450" dirty="0" err="1"/>
              <a:t>Transaktion</a:t>
            </a:r>
            <a:r>
              <a:rPr sz="1450" dirty="0"/>
              <a:t>: Saga </a:t>
            </a:r>
            <a:r>
              <a:rPr sz="1450" dirty="0" err="1"/>
              <a:t>mit</a:t>
            </a:r>
            <a:r>
              <a:rPr sz="1450" dirty="0"/>
              <a:t> </a:t>
            </a:r>
            <a:r>
              <a:rPr sz="1450" dirty="0" err="1"/>
              <a:t>Kompensation</a:t>
            </a:r>
            <a:r>
              <a:rPr sz="1450" dirty="0"/>
              <a:t>. </a:t>
            </a:r>
            <a:r>
              <a:rPr sz="1450" dirty="0" err="1"/>
              <a:t>Entscheidend</a:t>
            </a:r>
            <a:r>
              <a:rPr sz="1450" dirty="0"/>
              <a:t> </a:t>
            </a:r>
            <a:r>
              <a:rPr sz="1450" dirty="0" err="1"/>
              <a:t>ist</a:t>
            </a:r>
            <a:r>
              <a:rPr sz="1450" dirty="0"/>
              <a:t>, </a:t>
            </a:r>
            <a:r>
              <a:rPr sz="1450" dirty="0" err="1"/>
              <a:t>wer</a:t>
            </a:r>
            <a:r>
              <a:rPr sz="1450" dirty="0"/>
              <a:t> </a:t>
            </a:r>
            <a:r>
              <a:rPr sz="1450" dirty="0" err="1"/>
              <a:t>orchestriert</a:t>
            </a:r>
            <a:r>
              <a:rPr sz="1450" dirty="0"/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2514600"/>
            <a:ext cx="5577840" cy="33832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" y="2514600"/>
            <a:ext cx="73152" cy="3383280"/>
          </a:xfrm>
          <a:prstGeom prst="rect">
            <a:avLst/>
          </a:prstGeom>
          <a:solidFill>
            <a:srgbClr val="4654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2697480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1326"/>
                </a:solidFill>
                <a:latin typeface="GFT Corporate SemiBold"/>
              </a:rPr>
              <a:t>No-BFF · Client-side orchestration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063240"/>
            <a:ext cx="5120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65462"/>
                </a:solidFill>
                <a:latin typeface="GFT Corporate Light"/>
              </a:rPr>
              <a:t>Orchestrator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291840"/>
            <a:ext cx="2560320" cy="347472"/>
          </a:xfrm>
          <a:prstGeom prst="roundRect">
            <a:avLst>
              <a:gd name="adj" fmla="val 50000"/>
            </a:avLst>
          </a:prstGeom>
          <a:solidFill>
            <a:srgbClr val="4654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GFT Corporate SemiBold"/>
              </a:rPr>
              <a:t>Browser / TypeScript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3931920"/>
            <a:ext cx="128016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E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01326"/>
                </a:solidFill>
                <a:latin typeface="GFT Corporate SemiBold"/>
              </a:rPr>
              <a:t>Step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87752" y="3931920"/>
            <a:ext cx="128016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E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01326"/>
                </a:solidFill>
                <a:latin typeface="GFT Corporate SemiBold"/>
              </a:rPr>
              <a:t>Step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6512" y="3931920"/>
            <a:ext cx="128016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E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01326"/>
                </a:solidFill>
                <a:latin typeface="GFT Corporate SemiBold"/>
              </a:rPr>
              <a:t>Step 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59152" y="4183380"/>
            <a:ext cx="228600" cy="0"/>
          </a:xfrm>
          <a:prstGeom prst="line">
            <a:avLst/>
          </a:prstGeom>
          <a:ln w="19050">
            <a:solidFill>
              <a:srgbClr val="46546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867912" y="4183380"/>
            <a:ext cx="228600" cy="0"/>
          </a:xfrm>
          <a:prstGeom prst="line">
            <a:avLst/>
          </a:prstGeom>
          <a:ln w="19050">
            <a:solidFill>
              <a:srgbClr val="46546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78992" y="4736592"/>
            <a:ext cx="429767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465462"/>
                </a:solidFill>
                <a:latin typeface="GFT Corporate Light"/>
              </a:rPr>
              <a:t>Kompensation (bei Fehler)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078992" y="4956047"/>
            <a:ext cx="4297680" cy="0"/>
          </a:xfrm>
          <a:prstGeom prst="line">
            <a:avLst/>
          </a:prstGeom>
          <a:ln w="15875">
            <a:solidFill>
              <a:srgbClr val="46546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13232" y="502920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/>
              <a:t>· Orchestrierung im Frontend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285232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/>
              <a:t>· Kompensation im Client implementieren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541264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/>
              <a:t>· Mehr Netzwerk-, Auth- und Zustandslogik im UI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5352" y="2514600"/>
            <a:ext cx="5577840" cy="33832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245352" y="2514600"/>
            <a:ext cx="73152" cy="3383280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19672" y="2697480"/>
            <a:ext cx="5120640" cy="216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dirty="0" err="1">
                <a:solidFill>
                  <a:srgbClr val="001326"/>
                </a:solidFill>
                <a:latin typeface="GFT Corporate SemiBold"/>
              </a:rPr>
              <a:t>Mit</a:t>
            </a:r>
            <a:r>
              <a:rPr sz="1300" b="1" dirty="0">
                <a:solidFill>
                  <a:srgbClr val="001326"/>
                </a:solidFill>
                <a:latin typeface="GFT Corporate SemiBold"/>
              </a:rPr>
              <a:t> BFF · Backend</a:t>
            </a:r>
            <a:r>
              <a:rPr lang="de-DE" sz="1300" b="1" dirty="0">
                <a:solidFill>
                  <a:srgbClr val="001326"/>
                </a:solidFill>
                <a:latin typeface="GFT Corporate SemiBold"/>
              </a:rPr>
              <a:t>-</a:t>
            </a:r>
            <a:r>
              <a:rPr sz="1300" b="1" dirty="0">
                <a:solidFill>
                  <a:srgbClr val="001326"/>
                </a:solidFill>
                <a:latin typeface="GFT Corporate SemiBold"/>
              </a:rPr>
              <a:t>orchestration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9672" y="3063240"/>
            <a:ext cx="5120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65462"/>
                </a:solidFill>
                <a:latin typeface="GFT Corporate Light"/>
              </a:rPr>
              <a:t>Orchestrator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19672" y="3291840"/>
            <a:ext cx="2560320" cy="347472"/>
          </a:xfrm>
          <a:prstGeom prst="roundRect">
            <a:avLst>
              <a:gd name="adj" fmla="val 50000"/>
            </a:avLst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GFT Corporate SemiBold"/>
              </a:rPr>
              <a:t>BFF (Backend)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85432" y="3931920"/>
            <a:ext cx="128016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E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01326"/>
                </a:solidFill>
                <a:latin typeface="GFT Corporate SemiBold"/>
              </a:rPr>
              <a:t>Step 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94192" y="3931920"/>
            <a:ext cx="128016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E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01326"/>
                </a:solidFill>
                <a:latin typeface="GFT Corporate SemiBold"/>
              </a:rPr>
              <a:t>Step 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02952" y="3931920"/>
            <a:ext cx="128016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E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01326"/>
                </a:solidFill>
                <a:latin typeface="GFT Corporate SemiBold"/>
              </a:rPr>
              <a:t>Step 3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165592" y="4183380"/>
            <a:ext cx="228600" cy="0"/>
          </a:xfrm>
          <a:prstGeom prst="line">
            <a:avLst/>
          </a:prstGeom>
          <a:ln w="19050">
            <a:solidFill>
              <a:srgbClr val="006BD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674352" y="4183380"/>
            <a:ext cx="228600" cy="0"/>
          </a:xfrm>
          <a:prstGeom prst="line">
            <a:avLst/>
          </a:prstGeom>
          <a:ln w="19050">
            <a:solidFill>
              <a:srgbClr val="006BD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85432" y="4736592"/>
            <a:ext cx="429767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465462"/>
                </a:solidFill>
                <a:latin typeface="GFT Corporate Light"/>
              </a:rPr>
              <a:t>Kompensation (bei Fehler)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6885432" y="4956047"/>
            <a:ext cx="4297680" cy="0"/>
          </a:xfrm>
          <a:prstGeom prst="line">
            <a:avLst/>
          </a:prstGeom>
          <a:ln w="15875">
            <a:solidFill>
              <a:srgbClr val="006BD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19672" y="502920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dirty="0"/>
              <a:t>· Saga </a:t>
            </a:r>
            <a:r>
              <a:rPr sz="1150" dirty="0" err="1"/>
              <a:t>läuft</a:t>
            </a:r>
            <a:r>
              <a:rPr sz="1150" dirty="0"/>
              <a:t> </a:t>
            </a:r>
            <a:r>
              <a:rPr sz="1150" dirty="0" err="1"/>
              <a:t>serverseitig</a:t>
            </a:r>
            <a:endParaRPr sz="1150" dirty="0"/>
          </a:p>
        </p:txBody>
      </p:sp>
      <p:sp>
        <p:nvSpPr>
          <p:cNvPr id="37" name="TextBox 36"/>
          <p:cNvSpPr txBox="1"/>
          <p:nvPr/>
        </p:nvSpPr>
        <p:spPr>
          <a:xfrm>
            <a:off x="6519672" y="5285232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dirty="0"/>
              <a:t>· </a:t>
            </a:r>
            <a:r>
              <a:rPr sz="1150" dirty="0" err="1"/>
              <a:t>Kompensation</a:t>
            </a:r>
            <a:r>
              <a:rPr sz="1150" dirty="0"/>
              <a:t> an </a:t>
            </a:r>
            <a:r>
              <a:rPr sz="1150" dirty="0" err="1"/>
              <a:t>einer</a:t>
            </a:r>
            <a:r>
              <a:rPr sz="1150" dirty="0"/>
              <a:t> </a:t>
            </a:r>
            <a:r>
              <a:rPr sz="1150" dirty="0" err="1"/>
              <a:t>testbaren</a:t>
            </a:r>
            <a:r>
              <a:rPr sz="1150" dirty="0"/>
              <a:t> Stelle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9672" y="5541264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dirty="0"/>
              <a:t>· Frontend </a:t>
            </a:r>
            <a:r>
              <a:rPr sz="1150" dirty="0" err="1"/>
              <a:t>zeigt</a:t>
            </a:r>
            <a:r>
              <a:rPr sz="1150" dirty="0"/>
              <a:t> </a:t>
            </a:r>
            <a:r>
              <a:rPr sz="1150" dirty="0" err="1"/>
              <a:t>Ergebnis</a:t>
            </a:r>
            <a:r>
              <a:rPr sz="1150" dirty="0"/>
              <a:t> und UI-</a:t>
            </a:r>
            <a:r>
              <a:rPr sz="1150" dirty="0" err="1"/>
              <a:t>Zustand</a:t>
            </a:r>
            <a:endParaRPr sz="1150" dirty="0"/>
          </a:p>
        </p:txBody>
      </p:sp>
      <p:sp>
        <p:nvSpPr>
          <p:cNvPr id="39" name="TextBox 38"/>
          <p:cNvSpPr txBox="1"/>
          <p:nvPr/>
        </p:nvSpPr>
        <p:spPr>
          <a:xfrm>
            <a:off x="438912" y="6080760"/>
            <a:ext cx="11338560" cy="208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dirty="0" err="1"/>
              <a:t>Hier</a:t>
            </a:r>
            <a:r>
              <a:rPr sz="1250" dirty="0"/>
              <a:t> </a:t>
            </a:r>
            <a:r>
              <a:rPr sz="1250" dirty="0" err="1"/>
              <a:t>wird</a:t>
            </a:r>
            <a:r>
              <a:rPr sz="1250" dirty="0"/>
              <a:t> der </a:t>
            </a:r>
            <a:r>
              <a:rPr sz="1250" dirty="0" err="1"/>
              <a:t>Mehrwert</a:t>
            </a:r>
            <a:r>
              <a:rPr sz="1250" dirty="0"/>
              <a:t> am </a:t>
            </a:r>
            <a:r>
              <a:rPr sz="1250" dirty="0" err="1"/>
              <a:t>deutlichsten</a:t>
            </a:r>
            <a:r>
              <a:rPr sz="1250" dirty="0"/>
              <a:t>: </a:t>
            </a:r>
            <a:r>
              <a:rPr lang="de-DE" sz="1250" dirty="0"/>
              <a:t>Keine</a:t>
            </a:r>
            <a:r>
              <a:rPr sz="1250" dirty="0"/>
              <a:t> </a:t>
            </a:r>
            <a:r>
              <a:rPr sz="1250" dirty="0" err="1"/>
              <a:t>Orchestrierungslogik</a:t>
            </a:r>
            <a:r>
              <a:rPr sz="1250" dirty="0"/>
              <a:t> in TypeScript.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47548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002878"/>
                </a:solidFill>
                <a:latin typeface="GFT Corporate Light"/>
              </a:rPr>
              <a:t>BFF bei komplexeren Vorhaben</a:t>
            </a:r>
          </a:p>
        </p:txBody>
      </p:sp>
      <p:sp>
        <p:nvSpPr>
          <p:cNvPr id="3" name="Rectangle 2"/>
          <p:cNvSpPr/>
          <p:nvPr/>
        </p:nvSpPr>
        <p:spPr>
          <a:xfrm>
            <a:off x="438912" y="713232"/>
            <a:ext cx="256032" cy="41148"/>
          </a:xfrm>
          <a:prstGeom prst="rect">
            <a:avLst/>
          </a:prstGeom>
          <a:solidFill>
            <a:srgbClr val="002878"/>
          </a:solidFill>
          <a:ln>
            <a:solidFill>
              <a:srgbClr val="002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22992" y="6455664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66666"/>
                </a:solidFill>
                <a:latin typeface="GFT Corporate Light"/>
              </a:rPr>
              <a:t>April 2026 |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55664"/>
            <a:ext cx="457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66666"/>
                </a:solidFill>
                <a:latin typeface="GFT Corporate Light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96112"/>
            <a:ext cx="1133856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2878"/>
                </a:solidFill>
                <a:latin typeface="GFT Corporate SemiBold"/>
              </a:rPr>
              <a:t>Architektur der Demo-App: No-BFF</a:t>
            </a:r>
          </a:p>
        </p:txBody>
      </p:sp>
      <p:pic>
        <p:nvPicPr>
          <p:cNvPr id="7" name="Picture 6" descr="no_bff_direct_to_service_spa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0600" y="1480000"/>
            <a:ext cx="8528799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47548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002878"/>
                </a:solidFill>
                <a:latin typeface="GFT Corporate Light"/>
              </a:rPr>
              <a:t>BFF bei komplexeren Vorhaben</a:t>
            </a:r>
          </a:p>
        </p:txBody>
      </p:sp>
      <p:sp>
        <p:nvSpPr>
          <p:cNvPr id="3" name="Rectangle 2"/>
          <p:cNvSpPr/>
          <p:nvPr/>
        </p:nvSpPr>
        <p:spPr>
          <a:xfrm>
            <a:off x="438912" y="713232"/>
            <a:ext cx="256032" cy="41148"/>
          </a:xfrm>
          <a:prstGeom prst="rect">
            <a:avLst/>
          </a:prstGeom>
          <a:solidFill>
            <a:srgbClr val="002878"/>
          </a:solidFill>
          <a:ln>
            <a:solidFill>
              <a:srgbClr val="002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22992" y="6455664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66666"/>
                </a:solidFill>
                <a:latin typeface="GFT Corporate Light"/>
              </a:rPr>
              <a:t>April 2026 |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55664"/>
            <a:ext cx="457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66666"/>
                </a:solidFill>
                <a:latin typeface="GFT Corporate Light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96112"/>
            <a:ext cx="1133856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2878"/>
                </a:solidFill>
                <a:latin typeface="GFT Corporate SemiBold"/>
              </a:rPr>
              <a:t>Architektur der Demo-App: With BFF</a:t>
            </a:r>
          </a:p>
        </p:txBody>
      </p:sp>
      <p:pic>
        <p:nvPicPr>
          <p:cNvPr id="7" name="Picture 6" descr="bff_architecture_with_oau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0600" y="1480000"/>
            <a:ext cx="8528799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475488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65462"/>
                </a:solidFill>
                <a:latin typeface="GFT Corporate Light"/>
              </a:rPr>
              <a:t>BFF bei komplexeren Vorhaben</a:t>
            </a:r>
          </a:p>
        </p:txBody>
      </p:sp>
      <p:sp>
        <p:nvSpPr>
          <p:cNvPr id="3" name="Rectangle 2"/>
          <p:cNvSpPr/>
          <p:nvPr/>
        </p:nvSpPr>
        <p:spPr>
          <a:xfrm>
            <a:off x="438912" y="713232"/>
            <a:ext cx="256032" cy="41148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22992" y="6455664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65462"/>
                </a:solidFill>
                <a:latin typeface="GFT Corporate Light"/>
              </a:rPr>
              <a:t>April 2026 |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55664"/>
            <a:ext cx="457200" cy="1499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900" dirty="0">
                <a:solidFill>
                  <a:srgbClr val="465462"/>
                </a:solidFill>
                <a:latin typeface="GFT Corporate Light"/>
              </a:rPr>
              <a:t>10</a:t>
            </a:r>
            <a:endParaRPr sz="900" b="0" dirty="0">
              <a:solidFill>
                <a:srgbClr val="465462"/>
              </a:solidFill>
              <a:latin typeface="GFT Corporate Ligh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38912" y="896112"/>
            <a:ext cx="11338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01326"/>
                </a:solidFill>
                <a:latin typeface="GFT Corporate SemiBold"/>
              </a:rPr>
              <a:t>Live-Demo: worauf wir gleich achten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828800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/>
              <a:t>Dieselbe Anwendung — einmal mit und einmal ohne BFF.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2514600"/>
            <a:ext cx="3931920" cy="3657600"/>
          </a:xfrm>
          <a:prstGeom prst="rect">
            <a:avLst/>
          </a:prstGeom>
          <a:solidFill>
            <a:srgbClr val="00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283464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199E2"/>
                </a:solidFill>
                <a:latin typeface="GFT Corporate Light"/>
              </a:rPr>
              <a:t>Demo-Setup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108960"/>
            <a:ext cx="3474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/>
              <a:t>Zwei Frontends,</a:t>
            </a:r>
          </a:p>
          <a:p>
            <a:r>
              <a:rPr sz="1250"/>
              <a:t>eine Service-Landschaft.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605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199E2"/>
                </a:solidFill>
                <a:latin typeface="GFT Corporate SemiBold"/>
              </a:rPr>
              <a:t>Read-Szenario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38912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/>
              <a:t>Aggregation über</a:t>
            </a:r>
          </a:p>
          <a:p>
            <a:r>
              <a:rPr sz="1200"/>
              <a:t>mehrere Services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93776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199E2"/>
                </a:solidFill>
                <a:latin typeface="GFT Corporate SemiBold"/>
              </a:rPr>
              <a:t>Write-Szenario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5166360"/>
            <a:ext cx="3474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/>
              <a:t>Verteilter Write</a:t>
            </a:r>
          </a:p>
          <a:p>
            <a:r>
              <a:rPr sz="1200"/>
              <a:t>als Saga mit Kompensation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1" y="2514600"/>
            <a:ext cx="73506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1326"/>
                </a:solidFill>
                <a:latin typeface="GFT Corporate SemiBold"/>
              </a:rPr>
              <a:t>Worauf achten?</a:t>
            </a:r>
          </a:p>
        </p:txBody>
      </p:sp>
      <p:sp>
        <p:nvSpPr>
          <p:cNvPr id="17" name="Oval 16"/>
          <p:cNvSpPr/>
          <p:nvPr/>
        </p:nvSpPr>
        <p:spPr>
          <a:xfrm>
            <a:off x="4599431" y="3017520"/>
            <a:ext cx="320040" cy="320040"/>
          </a:xfrm>
          <a:prstGeom prst="ellipse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GFT Corporate SemiBol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6631" y="2971800"/>
            <a:ext cx="6893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/>
              <a:t>Sichtbare Aufrufe im Netzwerk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6631" y="3227832"/>
            <a:ext cx="689340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/>
              <a:t>No-BFF: viele Browser-Calls.</a:t>
            </a:r>
          </a:p>
          <a:p>
            <a:r>
              <a:rPr sz="1150"/>
              <a:t>BFF: ein zentraler Call.</a:t>
            </a:r>
          </a:p>
        </p:txBody>
      </p:sp>
      <p:sp>
        <p:nvSpPr>
          <p:cNvPr id="20" name="Oval 19"/>
          <p:cNvSpPr/>
          <p:nvPr/>
        </p:nvSpPr>
        <p:spPr>
          <a:xfrm>
            <a:off x="4599431" y="3671879"/>
            <a:ext cx="320040" cy="320040"/>
          </a:xfrm>
          <a:prstGeom prst="ellipse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GFT Corporate SemiBold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6631" y="3626160"/>
            <a:ext cx="6893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/>
              <a:t>Token im Frontend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56631" y="3882191"/>
            <a:ext cx="689340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/>
              <a:t>No-BFF: Token sichtbar.</a:t>
            </a:r>
          </a:p>
          <a:p>
            <a:r>
              <a:rPr sz="1150"/>
              <a:t>BFF: tokenfreier Client.</a:t>
            </a:r>
          </a:p>
        </p:txBody>
      </p:sp>
      <p:sp>
        <p:nvSpPr>
          <p:cNvPr id="23" name="Oval 22"/>
          <p:cNvSpPr/>
          <p:nvPr/>
        </p:nvSpPr>
        <p:spPr>
          <a:xfrm>
            <a:off x="4599431" y="4326240"/>
            <a:ext cx="320040" cy="320040"/>
          </a:xfrm>
          <a:prstGeom prst="ellipse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GFT Corporate SemiBol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56631" y="4280520"/>
            <a:ext cx="6893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/>
              <a:t>TypeScript-Integrationslogik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56631" y="4536552"/>
            <a:ext cx="689340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/>
              <a:t>No-BFF: Aggregation, Orchestrierung, Kompensation im Client.</a:t>
            </a:r>
          </a:p>
          <a:p>
            <a:r>
              <a:rPr sz="1150"/>
              <a:t>BFF: UI bleibt schlank.</a:t>
            </a:r>
          </a:p>
        </p:txBody>
      </p:sp>
      <p:sp>
        <p:nvSpPr>
          <p:cNvPr id="26" name="Oval 25"/>
          <p:cNvSpPr/>
          <p:nvPr/>
        </p:nvSpPr>
        <p:spPr>
          <a:xfrm>
            <a:off x="4599431" y="4980600"/>
            <a:ext cx="320040" cy="320040"/>
          </a:xfrm>
          <a:prstGeom prst="ellipse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GFT Corporate SemiBol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56631" y="4934880"/>
            <a:ext cx="6893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/>
              <a:t>Fehlerfall im Write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56631" y="5190912"/>
            <a:ext cx="689340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/>
              <a:t>No-BFF: clientseitige Saga.</a:t>
            </a:r>
          </a:p>
          <a:p>
            <a:r>
              <a:rPr sz="1150"/>
              <a:t>BFF: serverseitige Orchestrierung.</a:t>
            </a:r>
          </a:p>
        </p:txBody>
      </p:sp>
      <p:sp>
        <p:nvSpPr>
          <p:cNvPr id="29" name="Oval 28"/>
          <p:cNvSpPr/>
          <p:nvPr/>
        </p:nvSpPr>
        <p:spPr>
          <a:xfrm>
            <a:off x="4599431" y="5634960"/>
            <a:ext cx="320040" cy="320040"/>
          </a:xfrm>
          <a:prstGeom prst="ellipse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GFT Corporate SemiBold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56631" y="5589240"/>
            <a:ext cx="6893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/>
              <a:t>Änderungswirkung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6631" y="5845272"/>
            <a:ext cx="689340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/>
              <a:t>No-BFF: Frontend muss oft mit.</a:t>
            </a:r>
          </a:p>
          <a:p>
            <a:r>
              <a:rPr sz="1150"/>
              <a:t>BFF: vieles bleibt serverseitig.</a:t>
            </a:r>
          </a:p>
        </p:txBody>
      </p:sp>
      <p:sp>
        <p:nvSpPr>
          <p:cNvPr id="100" name="Separator 1"/>
          <p:cNvSpPr/>
          <p:nvPr/>
        </p:nvSpPr>
        <p:spPr>
          <a:xfrm>
            <a:off x="4599431" y="3605114"/>
            <a:ext cx="7350608" cy="9525"/>
          </a:xfrm>
          <a:prstGeom prst="rect">
            <a:avLst/>
          </a:prstGeom>
          <a:solidFill>
            <a:srgbClr val="C5CCD4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Separator 2"/>
          <p:cNvSpPr/>
          <p:nvPr/>
        </p:nvSpPr>
        <p:spPr>
          <a:xfrm>
            <a:off x="4599431" y="4259474"/>
            <a:ext cx="7350608" cy="9525"/>
          </a:xfrm>
          <a:prstGeom prst="rect">
            <a:avLst/>
          </a:prstGeom>
          <a:solidFill>
            <a:srgbClr val="C5CCD4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Separator 3"/>
          <p:cNvSpPr/>
          <p:nvPr/>
        </p:nvSpPr>
        <p:spPr>
          <a:xfrm>
            <a:off x="4599431" y="4913834"/>
            <a:ext cx="7350608" cy="9525"/>
          </a:xfrm>
          <a:prstGeom prst="rect">
            <a:avLst/>
          </a:prstGeom>
          <a:solidFill>
            <a:srgbClr val="C5CCD4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Separator 4"/>
          <p:cNvSpPr/>
          <p:nvPr/>
        </p:nvSpPr>
        <p:spPr>
          <a:xfrm>
            <a:off x="4599431" y="5568194"/>
            <a:ext cx="7350608" cy="9525"/>
          </a:xfrm>
          <a:prstGeom prst="rect">
            <a:avLst/>
          </a:prstGeom>
          <a:solidFill>
            <a:srgbClr val="C5CCD4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475488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65462"/>
                </a:solidFill>
                <a:latin typeface="GFT Corporate Light"/>
              </a:rPr>
              <a:t>BFF bei komplexeren Vorhaben</a:t>
            </a:r>
          </a:p>
        </p:txBody>
      </p:sp>
      <p:sp>
        <p:nvSpPr>
          <p:cNvPr id="3" name="Rectangle 2"/>
          <p:cNvSpPr/>
          <p:nvPr/>
        </p:nvSpPr>
        <p:spPr>
          <a:xfrm>
            <a:off x="438912" y="713232"/>
            <a:ext cx="256032" cy="41148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22992" y="6455664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65462"/>
                </a:solidFill>
                <a:latin typeface="GFT Corporate Light"/>
              </a:rPr>
              <a:t>April 2026 |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55664"/>
            <a:ext cx="457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>
                <a:solidFill>
                  <a:srgbClr val="666666"/>
                </a:solidFill>
                <a:latin typeface="GFT Corporate Light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896112"/>
            <a:ext cx="11338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01326"/>
                </a:solidFill>
                <a:latin typeface="GFT Corporate SemiBold"/>
              </a:rPr>
              <a:t>Takeaways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828800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/>
              <a:t>BFF als gezielte Komplexitätsverlagerung.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2514600"/>
            <a:ext cx="11338560" cy="1234440"/>
          </a:xfrm>
          <a:prstGeom prst="rect">
            <a:avLst/>
          </a:prstGeom>
          <a:solidFill>
            <a:srgbClr val="00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" y="2514600"/>
            <a:ext cx="109728" cy="1234440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67919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/>
              <a:t>Bei komplexeren Vorhaben gehören Integration, Aggregation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175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/>
              <a:t>und Orchestrierung ins Backend — nicht ins Frontend.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0156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/>
              <a:t>Für einfache Szenarien bleibt Direct-to-Service eine valide Option.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" y="4023360"/>
            <a:ext cx="269748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0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8912" y="4023360"/>
            <a:ext cx="2697480" cy="73152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" y="429768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1326"/>
                </a:solidFill>
                <a:latin typeface="GFT Corporate SemiBold"/>
              </a:rPr>
              <a:t>Weniger Wartung im Frontend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489204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80"/>
              <a:t>Weniger technische Integrationslogik</a:t>
            </a:r>
          </a:p>
          <a:p>
            <a:r>
              <a:rPr sz="1180"/>
              <a:t>in TypeScript — geringerer</a:t>
            </a:r>
          </a:p>
          <a:p>
            <a:r>
              <a:rPr sz="1180"/>
              <a:t>Wartungsaufwand zu erwarten.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4023360"/>
            <a:ext cx="269748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0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337560" y="4023360"/>
            <a:ext cx="2697480" cy="73152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566160" y="429768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1326"/>
                </a:solidFill>
                <a:latin typeface="GFT Corporate SemiBold"/>
              </a:rPr>
              <a:t>Klare Schnittstelle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89204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80"/>
              <a:t>Das BFF wird der stabile Vertrag</a:t>
            </a:r>
          </a:p>
          <a:p>
            <a:r>
              <a:rPr sz="1180"/>
              <a:t>zwischen UI und Backend-Landschaft.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6208" y="4023360"/>
            <a:ext cx="269748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0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36208" y="4023360"/>
            <a:ext cx="2697480" cy="73152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64808" y="429768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1326"/>
                </a:solidFill>
                <a:latin typeface="GFT Corporate SemiBold"/>
              </a:rPr>
              <a:t>Tokenfreier Client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489204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80"/>
              <a:t>Auth und Tokens sind gekapselt —</a:t>
            </a:r>
          </a:p>
          <a:p>
            <a:r>
              <a:rPr sz="1180"/>
              <a:t>kein direkt sichtbarer</a:t>
            </a:r>
          </a:p>
          <a:p>
            <a:r>
              <a:rPr sz="1180"/>
              <a:t>Access Token im Browser.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34856" y="4023360"/>
            <a:ext cx="269748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0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134856" y="4023360"/>
            <a:ext cx="2697480" cy="73152"/>
          </a:xfrm>
          <a:prstGeom prst="rect">
            <a:avLst/>
          </a:prstGeom>
          <a:solidFill>
            <a:srgbClr val="006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363456" y="429768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1326"/>
                </a:solidFill>
                <a:latin typeface="GFT Corporate SemiBold"/>
              </a:rPr>
              <a:t>Bessere Änderbarkeit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63456" y="489204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80"/>
              <a:t>Backend-Refactorings und neue</a:t>
            </a:r>
          </a:p>
          <a:p>
            <a:r>
              <a:rPr sz="1180"/>
              <a:t>Service-Schnitte treffen</a:t>
            </a:r>
          </a:p>
          <a:p>
            <a:r>
              <a:rPr sz="1180"/>
              <a:t>das Frontend seltener.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6263640"/>
            <a:ext cx="11338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/>
              <a:t>Nächster Schritt: Live-Demo — mit und ohne BFF im direkten Vergleich.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776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1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#m/%#d/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GFT_PPT_Template_16_9">
  <a:themeElements>
    <a:clrScheme name="GFT colors">
      <a:dk1>
        <a:srgbClr val="001326"/>
      </a:dk1>
      <a:lt1>
        <a:srgbClr val="FFFFFF"/>
      </a:lt1>
      <a:dk2>
        <a:srgbClr val="465462"/>
      </a:dk2>
      <a:lt2>
        <a:srgbClr val="F4F6F9"/>
      </a:lt2>
      <a:accent1>
        <a:srgbClr val="AEB5BD"/>
      </a:accent1>
      <a:accent2>
        <a:srgbClr val="DDE0E5"/>
      </a:accent2>
      <a:accent3>
        <a:srgbClr val="213E7F"/>
      </a:accent3>
      <a:accent4>
        <a:srgbClr val="006BD6"/>
      </a:accent4>
      <a:accent5>
        <a:srgbClr val="5199E2"/>
      </a:accent5>
      <a:accent6>
        <a:srgbClr val="DDE9F6"/>
      </a:accent6>
      <a:hlink>
        <a:srgbClr val="006BD6"/>
      </a:hlink>
      <a:folHlink>
        <a:srgbClr val="213E7F"/>
      </a:folHlink>
    </a:clrScheme>
    <a:fontScheme name="GFT fonts">
      <a:majorFont>
        <a:latin typeface="GFT Corporate SemiBold"/>
        <a:ea typeface=""/>
        <a:cs typeface=""/>
      </a:majorFont>
      <a:minorFont>
        <a:latin typeface="GFT Corporate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lIns="144000" tIns="108000" rIns="144000" bIns="108000" rtlCol="0" anchor="t"/>
      <a:lstStyle>
        <a:defPPr marL="180000" indent="-180000" algn="l">
          <a:lnSpc>
            <a:spcPct val="120000"/>
          </a:lnSpc>
          <a:spcBef>
            <a:spcPts val="500"/>
          </a:spcBef>
          <a:buFont typeface="Wingdings" panose="05000000000000000000" pitchFamily="2" charset="2"/>
          <a:buChar char="§"/>
          <a:defRPr sz="1400" dirty="0" smtClean="0">
            <a:solidFill>
              <a:schemeClr val="tx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rgbClr val="AEB5BD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spAutoFit/>
      </a:bodyPr>
      <a:lstStyle>
        <a:defPPr algn="l">
          <a:lnSpc>
            <a:spcPct val="120000"/>
          </a:lnSpc>
          <a:spcBef>
            <a:spcPts val="500"/>
          </a:spcBef>
          <a:defRPr sz="1200" dirty="0" smtClean="0">
            <a:solidFill>
              <a:schemeClr val="tx2"/>
            </a:solidFill>
          </a:defRPr>
        </a:defPPr>
      </a:lstStyle>
    </a:txDef>
  </a:objectDefaults>
  <a:extraClrSchemeLst/>
  <a:custClrLst>
    <a:custClr name="White">
      <a:srgbClr val="FFFFFF"/>
    </a:custClr>
    <a:custClr name="Dark Blue">
      <a:srgbClr val="001326"/>
    </a:custClr>
    <a:custClr name="Gray">
      <a:srgbClr val="F4F6F9"/>
    </a:custClr>
    <a:custClr name="Gray 500">
      <a:srgbClr val="465462"/>
    </a:custClr>
    <a:custClr name="Gray 300">
      <a:srgbClr val="AEB5BD"/>
    </a:custClr>
    <a:custClr name="Gray 200">
      <a:srgbClr val="DDE0E5"/>
    </a:custClr>
    <a:custClr name="GFT Logo Blue">
      <a:srgbClr val="213E7F"/>
    </a:custClr>
    <a:custClr name="Primary Blue 500">
      <a:srgbClr val="006BD6"/>
    </a:custClr>
    <a:custClr name=" ">
      <a:srgbClr val="FFFFFF"/>
    </a:custClr>
    <a:custClr name=" ">
      <a:srgbClr val="FFFFFF"/>
    </a:custClr>
    <a:custClr name=" ">
      <a:srgbClr val="FFFFFF"/>
    </a:custClr>
    <a:custClr name=" ">
      <a:srgbClr val="FFFFFF"/>
    </a:custClr>
    <a:custClr name=" ">
      <a:srgbClr val="FFFFFF"/>
    </a:custClr>
    <a:custClr name=" ">
      <a:srgbClr val="FFFFFF"/>
    </a:custClr>
    <a:custClr name=" ">
      <a:srgbClr val="FFFFFF"/>
    </a:custClr>
    <a:custClr name=" ">
      <a:srgbClr val="FFFFFF"/>
    </a:custClr>
    <a:custClr name=" ">
      <a:srgbClr val="FFFFFF"/>
    </a:custClr>
    <a:custClr name="Primary Blue 700">
      <a:srgbClr val="003971"/>
    </a:custClr>
    <a:custClr name=" ">
      <a:srgbClr val="FFFFFF"/>
    </a:custClr>
    <a:custClr name=" ">
      <a:srgbClr val="FFFFFF"/>
    </a:custClr>
    <a:custClr name=" ">
      <a:srgbClr val="FFFFFF"/>
    </a:custClr>
    <a:custClr name=" ">
      <a:srgbClr val="FFFFFF"/>
    </a:custClr>
    <a:custClr name=" ">
      <a:srgbClr val="FFFFFF"/>
    </a:custClr>
    <a:custClr name=" ">
      <a:srgbClr val="FFFFFF"/>
    </a:custClr>
    <a:custClr name=" ">
      <a:srgbClr val="FFFFFF"/>
    </a:custClr>
    <a:custClr name=" ">
      <a:srgbClr val="FFFFFF"/>
    </a:custClr>
    <a:custClr name=" ">
      <a:srgbClr val="FFFFFF"/>
    </a:custClr>
    <a:custClr name="Primary Blue 300">
      <a:srgbClr val="5199E2"/>
    </a:custClr>
    <a:custClr name="Highlight Orange 300">
      <a:srgbClr val="F9BD9F"/>
    </a:custClr>
    <a:custClr name="Highlight Turquoise 300">
      <a:srgbClr val="74EDE9"/>
    </a:custClr>
    <a:custClr name=" ">
      <a:srgbClr val="FFFFFF"/>
    </a:custClr>
    <a:custClr name=" ">
      <a:srgbClr val="FFFFFF"/>
    </a:custClr>
    <a:custClr name=" ">
      <a:srgbClr val="FFFFFF"/>
    </a:custClr>
    <a:custClr name=" ">
      <a:srgbClr val="FFFFFF"/>
    </a:custClr>
    <a:custClr name=" ">
      <a:srgbClr val="FFFFFF"/>
    </a:custClr>
    <a:custClr name=" ">
      <a:srgbClr val="FFFFFF"/>
    </a:custClr>
    <a:custClr name=" ">
      <a:srgbClr val="FFFFFF"/>
    </a:custClr>
    <a:custClr name="Primary Blue 200">
      <a:srgbClr val="A3C8ED"/>
    </a:custClr>
    <a:custClr name="Highlight Orange 200">
      <a:srgbClr val="F7DACC"/>
    </a:custClr>
    <a:custClr name="Highlight Turquoise 200">
      <a:srgbClr val="BAF2F2"/>
    </a:custClr>
    <a:custClr name=" ">
      <a:srgbClr val="FFFFFF"/>
    </a:custClr>
    <a:custClr name=" ">
      <a:srgbClr val="FFFFFF"/>
    </a:custClr>
    <a:custClr name=" ">
      <a:srgbClr val="FFFFFF"/>
    </a:custClr>
    <a:custClr name=" ">
      <a:srgbClr val="FFFFFF"/>
    </a:custClr>
    <a:custClr name=" ">
      <a:srgbClr val="FFFFFF"/>
    </a:custClr>
    <a:custClr name=" ">
      <a:srgbClr val="FFFFFF"/>
    </a:custClr>
    <a:custClr name=" ">
      <a:srgbClr val="FFFFFF"/>
    </a:custClr>
    <a:custClr name="Primary Blue 100">
      <a:srgbClr val="DDE9F6"/>
    </a:custClr>
    <a:custClr name="Highlight Orange 100">
      <a:srgbClr val="F5EBE7"/>
    </a:custClr>
    <a:custClr name="Highlight Turquoise 100">
      <a:srgbClr val="DDF4F6"/>
    </a:custClr>
  </a:custClrLst>
  <a:extLst>
    <a:ext uri="{05A4C25C-085E-4340-85A3-A5531E510DB2}">
      <thm15:themeFamily xmlns:thm15="http://schemas.microsoft.com/office/thememl/2012/main" name="2025_GFT_Master Template_Intro" id="{199E28F5-0E56-44BC-8867-AB1DD563438F}" vid="{166230BD-F2E3-4E62-8FB8-7C3E69419559}"/>
    </a:ext>
  </a:extLst>
</a:theme>
</file>

<file path=ppt/theme/theme2.xml><?xml version="1.0" encoding="utf-8"?>
<a:theme xmlns:a="http://schemas.openxmlformats.org/drawingml/2006/main" name="Office">
  <a:themeElements>
    <a:clrScheme name="GFT colors">
      <a:dk1>
        <a:srgbClr val="001326"/>
      </a:dk1>
      <a:lt1>
        <a:srgbClr val="FFFFFF"/>
      </a:lt1>
      <a:dk2>
        <a:srgbClr val="465462"/>
      </a:dk2>
      <a:lt2>
        <a:srgbClr val="F4F6F9"/>
      </a:lt2>
      <a:accent1>
        <a:srgbClr val="AEB5BD"/>
      </a:accent1>
      <a:accent2>
        <a:srgbClr val="DDE0E5"/>
      </a:accent2>
      <a:accent3>
        <a:srgbClr val="213E7F"/>
      </a:accent3>
      <a:accent4>
        <a:srgbClr val="006BD6"/>
      </a:accent4>
      <a:accent5>
        <a:srgbClr val="5199E2"/>
      </a:accent5>
      <a:accent6>
        <a:srgbClr val="DDE9F6"/>
      </a:accent6>
      <a:hlink>
        <a:srgbClr val="006BD6"/>
      </a:hlink>
      <a:folHlink>
        <a:srgbClr val="213E7F"/>
      </a:folHlink>
    </a:clrScheme>
    <a:fontScheme name="GFT fonts">
      <a:majorFont>
        <a:latin typeface="GFT Corporate SemiBold"/>
        <a:ea typeface=""/>
        <a:cs typeface=""/>
      </a:majorFont>
      <a:minorFont>
        <a:latin typeface="GFT Corporate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GFT colors">
      <a:dk1>
        <a:srgbClr val="001326"/>
      </a:dk1>
      <a:lt1>
        <a:srgbClr val="FFFFFF"/>
      </a:lt1>
      <a:dk2>
        <a:srgbClr val="465462"/>
      </a:dk2>
      <a:lt2>
        <a:srgbClr val="F4F6F9"/>
      </a:lt2>
      <a:accent1>
        <a:srgbClr val="AEB5BD"/>
      </a:accent1>
      <a:accent2>
        <a:srgbClr val="DDE0E5"/>
      </a:accent2>
      <a:accent3>
        <a:srgbClr val="213E7F"/>
      </a:accent3>
      <a:accent4>
        <a:srgbClr val="006BD6"/>
      </a:accent4>
      <a:accent5>
        <a:srgbClr val="5199E2"/>
      </a:accent5>
      <a:accent6>
        <a:srgbClr val="DDE9F6"/>
      </a:accent6>
      <a:hlink>
        <a:srgbClr val="006BD6"/>
      </a:hlink>
      <a:folHlink>
        <a:srgbClr val="213E7F"/>
      </a:folHlink>
    </a:clrScheme>
    <a:fontScheme name="GFT fonts">
      <a:majorFont>
        <a:latin typeface="GFT Corporate SemiBold"/>
        <a:ea typeface=""/>
        <a:cs typeface=""/>
      </a:majorFont>
      <a:minorFont>
        <a:latin typeface="GFT Corporate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DA6F2C52EBB2848BFC17DAE904FA08A" ma:contentTypeVersion="4" ma:contentTypeDescription="Create a new document." ma:contentTypeScope="" ma:versionID="c6d2e88935588824e6677b7dd932788f">
  <xsd:schema xmlns:xsd="http://www.w3.org/2001/XMLSchema" xmlns:xs="http://www.w3.org/2001/XMLSchema" xmlns:p="http://schemas.microsoft.com/office/2006/metadata/properties" xmlns:ns2="6f58215a-c5da-4c8d-9efa-75a6a7d28cbe" targetNamespace="http://schemas.microsoft.com/office/2006/metadata/properties" ma:root="true" ma:fieldsID="b84b3654316e41efbeb4deb1c0016dc8" ns2:_="">
    <xsd:import namespace="6f58215a-c5da-4c8d-9efa-75a6a7d28cb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58215a-c5da-4c8d-9efa-75a6a7d28cb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42AB8F2-D9EA-4EDB-92E9-A1D6D677FB83}">
  <ds:schemaRefs>
    <ds:schemaRef ds:uri="http://purl.org/dc/dcmitype/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schemas.microsoft.com/office/2006/metadata/properties"/>
    <ds:schemaRef ds:uri="6f58215a-c5da-4c8d-9efa-75a6a7d28cbe"/>
    <ds:schemaRef ds:uri="http://www.w3.org/XML/1998/namespace"/>
    <ds:schemaRef ds:uri="http://schemas.microsoft.com/office/infopath/2007/PartnerControl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DEEB635D-8776-4858-B841-43186E959E9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88C7D7B-184A-4405-A0FE-FEB233FC59F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f58215a-c5da-4c8d-9efa-75a6a7d28c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c0220965-8abc-4e4b-aa78-bf58f33dbfa6}" enabled="0" method="" siteId="{c0220965-8abc-4e4b-aa78-bf58f33dbfa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983</Words>
  <Application>Microsoft Office PowerPoint</Application>
  <PresentationFormat>Breitbild</PresentationFormat>
  <Paragraphs>242</Paragraphs>
  <Slides>11</Slides>
  <Notes>1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6" baseType="lpstr">
      <vt:lpstr>GFT Corporate Light</vt:lpstr>
      <vt:lpstr>GFT Corporate SemiBold</vt:lpstr>
      <vt:lpstr>Wingdings</vt:lpstr>
      <vt:lpstr>GFT_PPT_Template_16_9</vt:lpstr>
      <vt:lpstr>think-cell Slide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Sylvia Orgus | i-pointing</dc:creator>
  <cp:lastModifiedBy>Janda, Martin</cp:lastModifiedBy>
  <cp:revision>5</cp:revision>
  <cp:lastPrinted>2025-09-17T10:28:02Z</cp:lastPrinted>
  <dcterms:created xsi:type="dcterms:W3CDTF">2025-09-25T14:07:46Z</dcterms:created>
  <dcterms:modified xsi:type="dcterms:W3CDTF">2026-04-25T03:19:44Z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0x0101003DA6F2C52EBB2848BFC17DAE904FA08A</vt:lpwstr>
  </property>
</Properties>
</file>