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6" r:id="rId13"/>
    <p:sldId id="263" r:id="rId14"/>
    <p:sldId id="264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11" userDrawn="1">
          <p15:clr>
            <a:srgbClr val="A4A3A4"/>
          </p15:clr>
        </p15:guide>
        <p15:guide id="2" orient="horz" pos="1117" userDrawn="1">
          <p15:clr>
            <a:srgbClr val="A4A3A4"/>
          </p15:clr>
        </p15:guide>
        <p15:guide id="3" orient="horz" pos="29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5E572E-2ED3-903A-B1C7-206CCC6E2EB1}" name="Daniela | B&amp;R" initials="D|B" userId="S::dm@baranek-renger.de::1b54e985-8640-4357-a88c-6b86d0f2ac30" providerId="AD"/>
  <p188:author id="{AC6CF77F-D5BD-1A65-295C-6F81174AA648}" name="Hannes | B&amp;R" initials="HS" userId="S::hs@baranek-renger.de::a7a03351-11c9-4b28-aa81-f38d09901637" providerId="AD"/>
  <p188:author id="{6577E58D-C966-4BFB-8384-31BA7567E41E}" name="Christiane | B&amp;R" initials="CC" userId="S::cc@baranek-renger.de::17720351-8ab8-4afc-8cb4-0fb4d1522ea7" providerId="AD"/>
  <p188:author id="{E7993DB3-94FB-4703-89B0-E6B7FE3C3A58}" name="Rozana | B&amp;R" initials="R|B" userId="S::rr@baranek-renger.de::d874845c-9d31-40d6-b0d7-1d521d3161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6" autoAdjust="0"/>
    <p:restoredTop sz="93431" autoAdjust="0"/>
  </p:normalViewPr>
  <p:slideViewPr>
    <p:cSldViewPr snapToGrid="0">
      <p:cViewPr varScale="1">
        <p:scale>
          <a:sx n="71" d="100"/>
          <a:sy n="71" d="100"/>
        </p:scale>
        <p:origin x="494" y="67"/>
      </p:cViewPr>
      <p:guideLst>
        <p:guide pos="6811"/>
        <p:guide orient="horz" pos="1117"/>
        <p:guide orient="horz" pos="2931"/>
      </p:guideLst>
    </p:cSldViewPr>
  </p:slideViewPr>
  <p:outlineViewPr>
    <p:cViewPr>
      <p:scale>
        <a:sx n="33" d="100"/>
        <a:sy n="33" d="100"/>
      </p:scale>
      <p:origin x="0" y="-10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80"/>
    </p:cViewPr>
  </p:sorterViewPr>
  <p:notesViewPr>
    <p:cSldViewPr snapToGrid="0" showGuides="1">
      <p:cViewPr varScale="1">
        <p:scale>
          <a:sx n="78" d="100"/>
          <a:sy n="78" d="100"/>
        </p:scale>
        <p:origin x="254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Relationship Id="rId35" Type="http://schemas.microsoft.com/office/2018/10/relationships/authors" Target="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A9012F-DAEA-E13D-4CF8-41E6DA306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325E3-F4FD-8C7E-603A-49A81BC9AB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1DA85-BD4C-4CE5-8DCE-74C0F2473EEC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0476F-849F-4BAF-A9EB-3ACA62B8F8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D7D04-ACA6-B1B1-2269-93001E87AD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371C5-170D-4C00-ADCC-825FC20949A0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3032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89D530DC-3D95-4EFE-803D-905449110749}" type="datetimeFigureOut">
              <a:rPr lang="de-DE" smtClean="0"/>
              <a:pPr/>
              <a:t>24.04.2026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First </a:t>
            </a:r>
            <a:r>
              <a:rPr lang="de-DE" dirty="0" err="1"/>
              <a:t>level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5"/>
            <a:r>
              <a:rPr lang="de-DE" dirty="0" err="1"/>
              <a:t>Sixth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6"/>
            <a:r>
              <a:rPr lang="de-DE" dirty="0" err="1"/>
              <a:t>Seventh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7"/>
            <a:r>
              <a:rPr lang="de-DE" dirty="0" err="1"/>
              <a:t>Eighth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8"/>
            <a:r>
              <a:rPr lang="de-DE" dirty="0" err="1"/>
              <a:t>Ninth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fld id="{D978786D-9796-4B15-8CAE-DFAC772040F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110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36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54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72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90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108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6pPr>
    <a:lvl7pPr marL="126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7pPr>
    <a:lvl8pPr marL="144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8pPr>
    <a:lvl9pPr marL="1620000" indent="-180000" algn="l" defTabSz="914400" rtl="0" eaLnBrk="1" latinLnBrk="0" hangingPunct="1">
      <a:lnSpc>
        <a:spcPct val="120000"/>
      </a:lnSpc>
      <a:spcAft>
        <a:spcPts val="500"/>
      </a:spcAft>
      <a:buFont typeface="Wingdings" panose="05000000000000000000" pitchFamily="2" charset="2"/>
      <a:buChar char="§"/>
      <a:defRPr sz="1200" kern="1200">
        <a:solidFill>
          <a:schemeClr val="tx2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jp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jp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jp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E33436A-8B3A-AB5D-ADC3-AABF06734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0780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33436A-8B3A-AB5D-ADC3-AABF06734A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DB4AFA63-F486-07E9-AC5D-D736CA6A6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42B6E755-E567-81EE-6CA7-D9DC1207E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913" y="2211547"/>
            <a:ext cx="10412179" cy="2215991"/>
          </a:xfrm>
        </p:spPr>
        <p:txBody>
          <a:bodyPr vert="horz" wrap="square" anchor="b" anchorCtr="0">
            <a:noAutofit/>
          </a:bodyPr>
          <a:lstStyle>
            <a:lvl1pPr>
              <a:defRPr sz="7200" b="0">
                <a:solidFill>
                  <a:schemeClr val="tx1"/>
                </a:solidFill>
                <a:latin typeface="+mj-lt"/>
                <a:cs typeface="GFT Corporate SemiBold" pitchFamily="2" charset="0"/>
              </a:defRPr>
            </a:lvl1pPr>
          </a:lstStyle>
          <a:p>
            <a:r>
              <a:rPr lang="en-US" noProof="0" dirty="0"/>
              <a:t>Title of the</a:t>
            </a:r>
            <a:br>
              <a:rPr lang="en-US" noProof="0" dirty="0"/>
            </a:br>
            <a:r>
              <a:rPr lang="en-US" noProof="0" dirty="0"/>
              <a:t>Presentation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874CEA-F545-109F-8986-D4F1851DB3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6900" y="5015969"/>
            <a:ext cx="10419566" cy="29546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+mn-lt"/>
                <a:cs typeface="GFT Corporate Light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A05DC13C-BB7A-AE26-44AD-2E91250CA1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904" y="1907828"/>
            <a:ext cx="10419566" cy="29546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  <a:cs typeface="GFT Corporate Light" pitchFamily="2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Onlinebild-Platzhalter 11">
            <a:extLst>
              <a:ext uri="{FF2B5EF4-FFF2-40B4-BE49-F238E27FC236}">
                <a16:creationId xmlns:a16="http://schemas.microsoft.com/office/drawing/2014/main" id="{CE725469-04C2-F749-9449-037E1E9EA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clipArt" sz="quarter" idx="23" hasCustomPrompt="1"/>
          </p:nvPr>
        </p:nvSpPr>
        <p:spPr>
          <a:xfrm>
            <a:off x="414337" y="471488"/>
            <a:ext cx="1240631" cy="486624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l="-19421" t="-53667" r="-17671" b="-4796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3510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E33436A-8B3A-AB5D-ADC3-AABF06734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6694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33436A-8B3A-AB5D-ADC3-AABF06734A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DB4AFA63-F486-07E9-AC5D-D736CA6A6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42B6E755-E567-81EE-6CA7-D9DC1207E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913" y="2211547"/>
            <a:ext cx="10410592" cy="2215991"/>
          </a:xfrm>
        </p:spPr>
        <p:txBody>
          <a:bodyPr vert="horz" wrap="square" anchor="b" anchorCtr="0">
            <a:noAutofit/>
          </a:bodyPr>
          <a:lstStyle>
            <a:lvl1pPr>
              <a:defRPr sz="7200" b="0">
                <a:solidFill>
                  <a:schemeClr val="tx1"/>
                </a:solidFill>
                <a:latin typeface="+mj-lt"/>
                <a:cs typeface="GFT Corporate SemiBold" pitchFamily="2" charset="0"/>
              </a:defRPr>
            </a:lvl1pPr>
          </a:lstStyle>
          <a:p>
            <a:r>
              <a:rPr lang="en-US" noProof="0" dirty="0"/>
              <a:t>Title of the</a:t>
            </a:r>
            <a:br>
              <a:rPr lang="en-US" noProof="0" dirty="0"/>
            </a:br>
            <a:r>
              <a:rPr lang="en-US" noProof="0" dirty="0"/>
              <a:t>Presentation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874CEA-F545-109F-8986-D4F1851DB3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6900" y="5015969"/>
            <a:ext cx="10417977" cy="29546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+mn-lt"/>
                <a:cs typeface="GFT Corporate Light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A05DC13C-BB7A-AE26-44AD-2E91250CA1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904" y="1907828"/>
            <a:ext cx="10417977" cy="29546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  <a:cs typeface="GFT Corporate Light" pitchFamily="2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Onlinebild-Platzhalter 11">
            <a:extLst>
              <a:ext uri="{FF2B5EF4-FFF2-40B4-BE49-F238E27FC236}">
                <a16:creationId xmlns:a16="http://schemas.microsoft.com/office/drawing/2014/main" id="{14E7D8D3-FDA4-C974-DDD5-659C0F15E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clipArt" sz="quarter" idx="23" hasCustomPrompt="1"/>
          </p:nvPr>
        </p:nvSpPr>
        <p:spPr>
          <a:xfrm>
            <a:off x="414337" y="471488"/>
            <a:ext cx="1240631" cy="486624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l="-19421" t="-53667" r="-17671" b="-4796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1604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DB4AFA63-F486-07E9-AC5D-D736CA6A6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E33436A-8B3A-AB5D-ADC3-AABF06734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32019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33436A-8B3A-AB5D-ADC3-AABF06734A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el 1">
            <a:extLst>
              <a:ext uri="{FF2B5EF4-FFF2-40B4-BE49-F238E27FC236}">
                <a16:creationId xmlns:a16="http://schemas.microsoft.com/office/drawing/2014/main" id="{42B6E755-E567-81EE-6CA7-D9DC1207E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1913" y="2211547"/>
            <a:ext cx="10412179" cy="2215991"/>
          </a:xfrm>
        </p:spPr>
        <p:txBody>
          <a:bodyPr vert="horz" wrap="square" anchor="b" anchorCtr="0">
            <a:noAutofit/>
          </a:bodyPr>
          <a:lstStyle>
            <a:lvl1pPr>
              <a:defRPr sz="7200" b="0">
                <a:solidFill>
                  <a:schemeClr val="tx1"/>
                </a:solidFill>
                <a:latin typeface="+mj-lt"/>
                <a:cs typeface="GFT Corporate SemiBold" pitchFamily="2" charset="0"/>
              </a:defRPr>
            </a:lvl1pPr>
          </a:lstStyle>
          <a:p>
            <a:r>
              <a:rPr lang="en-US" noProof="0" dirty="0"/>
              <a:t>Title of the</a:t>
            </a:r>
            <a:br>
              <a:rPr lang="en-US" noProof="0" dirty="0"/>
            </a:br>
            <a:r>
              <a:rPr lang="en-US" noProof="0" dirty="0"/>
              <a:t>Presentation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874CEA-F545-109F-8986-D4F1851DB3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6900" y="5015969"/>
            <a:ext cx="10419566" cy="295466"/>
          </a:xfr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+mn-lt"/>
                <a:cs typeface="GFT Corporate Light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A05DC13C-BB7A-AE26-44AD-2E91250CA1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904" y="1907828"/>
            <a:ext cx="10419566" cy="29546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  <a:cs typeface="GFT Corporate Light" pitchFamily="2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Onlinebild-Platzhalter 11">
            <a:extLst>
              <a:ext uri="{FF2B5EF4-FFF2-40B4-BE49-F238E27FC236}">
                <a16:creationId xmlns:a16="http://schemas.microsoft.com/office/drawing/2014/main" id="{CC07AEA8-662C-6011-54E0-F004F963B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clipArt" sz="quarter" idx="23" hasCustomPrompt="1"/>
          </p:nvPr>
        </p:nvSpPr>
        <p:spPr>
          <a:xfrm>
            <a:off x="414337" y="471488"/>
            <a:ext cx="1240631" cy="486624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l="-19421" t="-53667" r="-17671" b="-4796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758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3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122546-A44E-6C1A-73DE-45E0013FB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12195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2D1162D9-159C-48EA-51FD-C65D46F25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6655" y="2463950"/>
            <a:ext cx="10398686" cy="1384995"/>
          </a:xfrm>
        </p:spPr>
        <p:txBody>
          <a:bodyPr wrap="square" anchor="b" anchorCtr="0">
            <a:spAutoFit/>
          </a:bodyPr>
          <a:lstStyle>
            <a:lvl1pPr>
              <a:defRPr sz="5000" b="0">
                <a:solidFill>
                  <a:schemeClr val="tx1"/>
                </a:solidFill>
                <a:latin typeface="GFT Corporate SemiBold" pitchFamily="2" charset="0"/>
                <a:cs typeface="GFT Corporate SemiBold" pitchFamily="2" charset="0"/>
              </a:defRPr>
            </a:lvl1pPr>
          </a:lstStyle>
          <a:p>
            <a:r>
              <a:rPr lang="en-US" noProof="0" dirty="0"/>
              <a:t>Title of the</a:t>
            </a:r>
            <a:br>
              <a:rPr lang="en-US" noProof="0" dirty="0"/>
            </a:br>
            <a:r>
              <a:rPr lang="en-US" noProof="0" dirty="0"/>
              <a:t>Divider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6550954-0433-402B-91FE-AD537F68C1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6656" y="4427851"/>
            <a:ext cx="10406063" cy="2954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0DEC1-B25A-73CC-58A5-AE2CAF836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3E3031-988C-4972-B278-DE76693A4087}" type="datetime4">
              <a:rPr lang="en-US" noProof="0" smtClean="0"/>
              <a:t>April 24, 2026</a:t>
            </a:fld>
            <a:r>
              <a:rPr lang="en-US" noProof="0"/>
              <a:t> |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788162B-B2F1-1105-6BA6-8FDAFB3DC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476000" y="6456513"/>
            <a:ext cx="2556249" cy="13131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/>
              <a:t>Title of Presentation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9A62C6-E813-03FB-75F5-6477BC8C6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C150D7EA-546B-F2A3-FB43-80AD81367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50960" y="6456513"/>
            <a:ext cx="0" cy="401487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4C7E9FD5-46D1-4DE2-A4DD-B9A18D56D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204" y="6404078"/>
            <a:ext cx="590413" cy="281102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C4D18A2-CC45-E1E3-74E1-DEE4CC74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3" y="6456513"/>
            <a:ext cx="3587750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FF13A94C-18C2-2A3C-0AED-4B80855C9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9750" y="6456513"/>
            <a:ext cx="1931987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</p:spTree>
    <p:extLst>
      <p:ext uri="{BB962C8B-B14F-4D97-AF65-F5344CB8AC3E}">
        <p14:creationId xmlns:p14="http://schemas.microsoft.com/office/powerpoint/2010/main" val="379497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122546-A44E-6C1A-73DE-45E0013FB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0531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2D1162D9-159C-48EA-51FD-C65D46F25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6655" y="2463950"/>
            <a:ext cx="10398686" cy="1384995"/>
          </a:xfrm>
        </p:spPr>
        <p:txBody>
          <a:bodyPr wrap="square" anchor="b" anchorCtr="0">
            <a:spAutoFit/>
          </a:bodyPr>
          <a:lstStyle>
            <a:lvl1pPr>
              <a:defRPr sz="5000" b="0">
                <a:solidFill>
                  <a:schemeClr val="tx1"/>
                </a:solidFill>
                <a:latin typeface="GFT Corporate SemiBold" pitchFamily="2" charset="0"/>
                <a:cs typeface="GFT Corporate SemiBold" pitchFamily="2" charset="0"/>
              </a:defRPr>
            </a:lvl1pPr>
          </a:lstStyle>
          <a:p>
            <a:r>
              <a:rPr lang="en-US" noProof="0" dirty="0"/>
              <a:t>Title of the</a:t>
            </a:r>
            <a:br>
              <a:rPr lang="en-US" noProof="0" dirty="0"/>
            </a:br>
            <a:r>
              <a:rPr lang="en-US" noProof="0" dirty="0"/>
              <a:t>Divider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6550954-0433-402B-91FE-AD537F68C1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6656" y="4427851"/>
            <a:ext cx="10406063" cy="2954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2F42A667-53B3-6A18-0E68-7B147AE1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50960" y="6456513"/>
            <a:ext cx="0" cy="401487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9B8480BE-A15B-ECFD-9FF5-A54A44765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204" y="6404078"/>
            <a:ext cx="590413" cy="28110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2E847F-54CA-613F-C26A-E076502BF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CC64D4F-4A56-4BEC-8D01-3EDB84399994}" type="datetime4">
              <a:rPr lang="en-US" noProof="0" smtClean="0"/>
              <a:t>April 24, 2026</a:t>
            </a:fld>
            <a:r>
              <a:rPr lang="en-US" noProof="0"/>
              <a:t> |</a:t>
            </a:r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A0F8B2F-5953-AE3C-6127-00FC7C3A7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476001" y="6456513"/>
            <a:ext cx="2556250" cy="13131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 dirty="0"/>
              <a:t>Title of Presentation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1B1928-CB23-5C74-9E5F-62F489F8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ACCC56A2-BE7F-E616-1935-C388378B6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3" y="6456513"/>
            <a:ext cx="3587750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E80ED2B7-C95F-413B-EC57-2D4228F79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9750" y="6456513"/>
            <a:ext cx="1931987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</p:spTree>
    <p:extLst>
      <p:ext uri="{BB962C8B-B14F-4D97-AF65-F5344CB8AC3E}">
        <p14:creationId xmlns:p14="http://schemas.microsoft.com/office/powerpoint/2010/main" val="384749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122546-A44E-6C1A-73DE-45E0013FB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9541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2D1162D9-159C-48EA-51FD-C65D46F25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6655" y="2463950"/>
            <a:ext cx="10398686" cy="1384995"/>
          </a:xfrm>
        </p:spPr>
        <p:txBody>
          <a:bodyPr wrap="square" anchor="b" anchorCtr="0">
            <a:spAutoFit/>
          </a:bodyPr>
          <a:lstStyle>
            <a:lvl1pPr>
              <a:defRPr sz="5000" b="0">
                <a:solidFill>
                  <a:schemeClr val="tx1"/>
                </a:solidFill>
                <a:latin typeface="GFT Corporate SemiBold" pitchFamily="2" charset="0"/>
                <a:cs typeface="GFT Corporate SemiBold" pitchFamily="2" charset="0"/>
              </a:defRPr>
            </a:lvl1pPr>
          </a:lstStyle>
          <a:p>
            <a:r>
              <a:rPr lang="en-US" noProof="0" dirty="0"/>
              <a:t>Title of the</a:t>
            </a:r>
            <a:br>
              <a:rPr lang="en-US" noProof="0" dirty="0"/>
            </a:br>
            <a:r>
              <a:rPr lang="en-US" noProof="0" dirty="0"/>
              <a:t>Divider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6550954-0433-402B-91FE-AD537F68C14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6656" y="4427851"/>
            <a:ext cx="10406063" cy="2954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D16B1E7C-974F-97AC-A7EB-983191995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50960" y="6456513"/>
            <a:ext cx="0" cy="401487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44954AF1-B7D0-6D97-7DDE-661969145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204" y="6404078"/>
            <a:ext cx="590413" cy="28110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8B26E3-3C75-B028-EC01-044B3554E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9B81C605-1CCC-44D5-9FA0-E9A30EE6768C}" type="datetime4">
              <a:rPr lang="en-US" noProof="0" smtClean="0"/>
              <a:t>April 24, 2026</a:t>
            </a:fld>
            <a:r>
              <a:rPr lang="en-US" noProof="0"/>
              <a:t> |</a:t>
            </a:r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CCBACF-867C-2D04-6EBD-7B0D90C3B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476001" y="6456513"/>
            <a:ext cx="2556250" cy="13131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 dirty="0"/>
              <a:t>Title of Presentation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B46F39-9476-9512-698E-A83AE2095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66E6E43-E64D-8B82-CF9A-3228A4F4B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3" y="6456513"/>
            <a:ext cx="3587750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BE835AA3-8928-8B0A-F0E1-56B3532DA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9750" y="6456513"/>
            <a:ext cx="1931987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</p:spTree>
    <p:extLst>
      <p:ext uri="{BB962C8B-B14F-4D97-AF65-F5344CB8AC3E}">
        <p14:creationId xmlns:p14="http://schemas.microsoft.com/office/powerpoint/2010/main" val="167161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59654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9A81F37D-02D3-E0C7-7C04-68499886A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294" y="766501"/>
            <a:ext cx="11303794" cy="4431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F6A6D-86A2-1830-9A23-707BD2BB5DB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913" y="476250"/>
            <a:ext cx="5519737" cy="164148"/>
          </a:xfrm>
        </p:spPr>
        <p:txBody>
          <a:bodyPr>
            <a:spAutoFit/>
          </a:bodyPr>
          <a:lstStyle>
            <a:lvl1pPr marL="0" indent="0">
              <a:buNone/>
              <a:defRPr sz="1000" cap="all" baseline="0"/>
            </a:lvl1pPr>
            <a:lvl2pPr marL="180000" indent="0">
              <a:buNone/>
              <a:defRPr sz="1000" cap="all" baseline="0"/>
            </a:lvl2pPr>
            <a:lvl3pPr marL="360000" indent="0">
              <a:buNone/>
              <a:defRPr sz="1000" cap="all" baseline="0"/>
            </a:lvl3pPr>
            <a:lvl4pPr marL="540000" indent="0">
              <a:buNone/>
              <a:defRPr sz="1000" cap="all" baseline="0"/>
            </a:lvl4pPr>
            <a:lvl5pPr marL="720000" indent="0">
              <a:buNone/>
              <a:defRPr sz="1000" cap="all"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63E15D8-4F7D-9FF0-F984-A6C4ACF3F87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45294" y="1523206"/>
            <a:ext cx="11303794" cy="93265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Second level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9AC8C85-C613-268E-B230-90FBC9DDB3E9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45295" y="2455863"/>
            <a:ext cx="5506244" cy="385818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FFE00615-BBAF-42E8-977A-419CDE9D6B27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240463" y="2455863"/>
            <a:ext cx="5508625" cy="385818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8DDE3EE-F257-87BE-B583-7204C7C4D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3" y="6456513"/>
            <a:ext cx="3587750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31B1511D-9CF7-9B3D-7A6C-6A711E74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9750" y="6456513"/>
            <a:ext cx="1931987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9DD24C-602B-29C6-E1D9-3702CA953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BCDA6306-39C6-4AAA-BD10-2DD529978832}" type="datetime4">
              <a:rPr lang="en-US" noProof="0" smtClean="0"/>
              <a:t>April 24, 2026</a:t>
            </a:fld>
            <a:r>
              <a:rPr lang="en-US" noProof="0"/>
              <a:t> |</a:t>
            </a:r>
            <a:endParaRPr lang="en-US" noProof="0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4314DA9-D825-8AFB-C13E-A949EFA37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476001" y="6456513"/>
            <a:ext cx="2556250" cy="13131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4763C64-FC87-D539-AB12-2B26910D2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95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96561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FB104DA4-B7D1-9DDC-8AB0-1ED1054E607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913" y="476250"/>
            <a:ext cx="5519737" cy="164148"/>
          </a:xfrm>
        </p:spPr>
        <p:txBody>
          <a:bodyPr>
            <a:spAutoFit/>
          </a:bodyPr>
          <a:lstStyle>
            <a:lvl1pPr marL="0" indent="0">
              <a:buNone/>
              <a:defRPr sz="1000" cap="all" baseline="0"/>
            </a:lvl1pPr>
            <a:lvl2pPr marL="180000" indent="0">
              <a:buNone/>
              <a:defRPr sz="1000" cap="all" baseline="0"/>
            </a:lvl2pPr>
            <a:lvl3pPr marL="360000" indent="0">
              <a:buNone/>
              <a:defRPr sz="1000" cap="all" baseline="0"/>
            </a:lvl3pPr>
            <a:lvl4pPr marL="540000" indent="0">
              <a:buNone/>
              <a:defRPr sz="1000" cap="all" baseline="0"/>
            </a:lvl4pPr>
            <a:lvl5pPr marL="720000" indent="0">
              <a:buNone/>
              <a:defRPr sz="1000" cap="all"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410E389-E36D-DA40-F532-ADA338346E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294" y="766501"/>
            <a:ext cx="5506244" cy="4431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6414856F-B75D-B410-87DE-0B62856A5947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45294" y="1523206"/>
            <a:ext cx="5506244" cy="93265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Second level</a:t>
            </a:r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0DE164EC-7F94-442E-0DD5-CD0E6489623A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45295" y="2455863"/>
            <a:ext cx="5506244" cy="38623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4644014F-6A67-0A21-1506-57135B754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9750" y="6456513"/>
            <a:ext cx="1931987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D95AA8A-877F-8C32-B156-A4FB30DF7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3" y="6456513"/>
            <a:ext cx="3587750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EB6B3E-AF7B-81DC-DE73-CC170F437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57CF8E12-9512-4571-B994-799B954839DC}" type="datetime4">
              <a:rPr lang="en-US" noProof="0" smtClean="0"/>
              <a:t>April 24, 2026</a:t>
            </a:fld>
            <a:r>
              <a:rPr lang="en-US" noProof="0"/>
              <a:t> |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21A77-750A-B80E-5FEA-C2B6409E3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055BA65-E89C-AECE-98CC-3E6FA188A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188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498170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F6A6D-86A2-1830-9A23-707BD2BB5D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913" y="476250"/>
            <a:ext cx="5519737" cy="164148"/>
          </a:xfrm>
        </p:spPr>
        <p:txBody>
          <a:bodyPr>
            <a:spAutoFit/>
          </a:bodyPr>
          <a:lstStyle>
            <a:lvl1pPr marL="0" indent="0">
              <a:buNone/>
              <a:defRPr sz="1000" cap="all" baseline="0"/>
            </a:lvl1pPr>
            <a:lvl2pPr marL="180000" indent="0">
              <a:buNone/>
              <a:defRPr sz="1000" cap="all" baseline="0"/>
            </a:lvl2pPr>
            <a:lvl3pPr marL="360000" indent="0">
              <a:buNone/>
              <a:defRPr sz="1000" cap="all" baseline="0"/>
            </a:lvl3pPr>
            <a:lvl4pPr marL="540000" indent="0">
              <a:buNone/>
              <a:defRPr sz="1000" cap="all" baseline="0"/>
            </a:lvl4pPr>
            <a:lvl5pPr marL="720000" indent="0">
              <a:buNone/>
              <a:defRPr sz="1000" cap="all"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A81F37D-02D3-E0C7-7C04-68499886A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294" y="766501"/>
            <a:ext cx="11303794" cy="4431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8DDE3EE-F257-87BE-B583-7204C7C4D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3" y="6456513"/>
            <a:ext cx="3587750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31B1511D-9CF7-9B3D-7A6C-6A711E74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8162" y="6456513"/>
            <a:ext cx="1933575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9C3E8A-A0A9-6DCA-0F77-BB3D725B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8EDEEBE2-F7EE-4B55-9F2B-99F5E25A2148}" type="datetime4">
              <a:rPr lang="en-US" noProof="0" smtClean="0"/>
              <a:t>April 24, 2026</a:t>
            </a:fld>
            <a:r>
              <a:rPr lang="en-US" noProof="0"/>
              <a:t> </a:t>
            </a:r>
            <a:r>
              <a:rPr lang="en-US" noProof="0" dirty="0"/>
              <a:t>|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E8903E-DE30-9E96-4CEB-FF9E66A1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476001" y="6456513"/>
            <a:ext cx="2556250" cy="13131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 noProof="0"/>
              <a:t>Title of Presentation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FE21EC-3904-185A-A914-D4A9C465E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93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383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F6A6D-86A2-1830-9A23-707BD2BB5DB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2913" y="476250"/>
            <a:ext cx="5519737" cy="164148"/>
          </a:xfrm>
        </p:spPr>
        <p:txBody>
          <a:bodyPr>
            <a:spAutoFit/>
          </a:bodyPr>
          <a:lstStyle>
            <a:lvl1pPr marL="0" indent="0">
              <a:buNone/>
              <a:defRPr sz="1000" cap="all" baseline="0"/>
            </a:lvl1pPr>
            <a:lvl2pPr marL="180000" indent="0">
              <a:buNone/>
              <a:defRPr sz="1000" cap="all" baseline="0"/>
            </a:lvl2pPr>
            <a:lvl3pPr marL="360000" indent="0">
              <a:buNone/>
              <a:defRPr sz="1000" cap="all" baseline="0"/>
            </a:lvl3pPr>
            <a:lvl4pPr marL="540000" indent="0">
              <a:buNone/>
              <a:defRPr sz="1000" cap="all" baseline="0"/>
            </a:lvl4pPr>
            <a:lvl5pPr marL="720000" indent="0">
              <a:buNone/>
              <a:defRPr sz="1000" cap="all"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A81F37D-02D3-E0C7-7C04-68499886A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294" y="766501"/>
            <a:ext cx="11303794" cy="4431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63E15D8-4F7D-9FF0-F984-A6C4ACF3F87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45294" y="1523206"/>
            <a:ext cx="11303794" cy="93265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Click to edit Master text styles</a:t>
            </a:r>
          </a:p>
          <a:p>
            <a:pPr marL="0" marR="0" lvl="1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/>
              <a:t>Second level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9AC8C85-C613-268E-B230-90FBC9DDB3E9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45295" y="2455863"/>
            <a:ext cx="3586955" cy="386209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FFE00615-BBAF-42E8-977A-419CDE9D6B27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03712" y="2455863"/>
            <a:ext cx="3587751" cy="386209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7D6CBC3-CFB2-D686-2484-8FB93B4A810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167686" y="2455863"/>
            <a:ext cx="3581401" cy="38623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8DDE3EE-F257-87BE-B583-7204C7C4D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2" y="6456513"/>
            <a:ext cx="3592513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31B1511D-9CF7-9B3D-7A6C-6A711E74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67686" y="6456513"/>
            <a:ext cx="1924052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9C3E8A-A0A9-6DCA-0F77-BB3D725B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0855D730-6933-45F2-B321-12D08602E76D}" type="datetime4">
              <a:rPr lang="en-US" noProof="0" smtClean="0"/>
              <a:t>April 24, 2026</a:t>
            </a:fld>
            <a:r>
              <a:rPr lang="en-US" noProof="0"/>
              <a:t> </a:t>
            </a:r>
            <a:r>
              <a:rPr lang="en-US" noProof="0" dirty="0"/>
              <a:t>|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E8903E-DE30-9E96-4CEB-FF9E66A1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476001" y="6456513"/>
            <a:ext cx="2556250" cy="13131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 noProof="0"/>
              <a:t>Title of Presentation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FE21EC-3904-185A-A914-D4A9C465E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4514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1E0CDEB-08C5-DF75-3369-1C671FEA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93260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E0CDEB-08C5-DF75-3369-1C671FEA2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F6A6D-86A2-1830-9A23-707BD2BB5DB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913" y="476250"/>
            <a:ext cx="5519737" cy="164148"/>
          </a:xfrm>
        </p:spPr>
        <p:txBody>
          <a:bodyPr>
            <a:spAutoFit/>
          </a:bodyPr>
          <a:lstStyle>
            <a:lvl1pPr marL="0" indent="0">
              <a:buNone/>
              <a:defRPr sz="1000" cap="all" baseline="0"/>
            </a:lvl1pPr>
            <a:lvl2pPr marL="180000" indent="0">
              <a:buNone/>
              <a:defRPr sz="1000" cap="all" baseline="0"/>
            </a:lvl2pPr>
            <a:lvl3pPr marL="360000" indent="0">
              <a:buNone/>
              <a:defRPr sz="1000" cap="all" baseline="0"/>
            </a:lvl3pPr>
            <a:lvl4pPr marL="540000" indent="0">
              <a:buNone/>
              <a:defRPr sz="1000" cap="all" baseline="0"/>
            </a:lvl4pPr>
            <a:lvl5pPr marL="720000" indent="0">
              <a:buNone/>
              <a:defRPr sz="1000" cap="all" baseline="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A81F37D-02D3-E0C7-7C04-68499886A7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294" y="766501"/>
            <a:ext cx="3598069" cy="443198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noProof="0" dirty="0"/>
              <a:t>Headline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63E15D8-4F7D-9FF0-F984-A6C4ACF3F87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45294" y="1523206"/>
            <a:ext cx="3598068" cy="932657"/>
          </a:xfrm>
        </p:spPr>
        <p:txBody>
          <a:bodyPr/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9AC8C85-C613-268E-B230-90FBC9DDB3E9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45295" y="2455863"/>
            <a:ext cx="3586955" cy="38623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7D6CBC3-CFB2-D686-2484-8FB93B4A810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303713" y="766501"/>
            <a:ext cx="7445375" cy="55517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8DDE3EE-F257-87BE-B583-7204C7C4D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3713" y="6456513"/>
            <a:ext cx="3587750" cy="131318"/>
          </a:xfrm>
          <a:prstGeom prst="rect">
            <a:avLst/>
          </a:prstGeom>
        </p:spPr>
        <p:txBody>
          <a:bodyPr wrap="square" rIns="0" bIns="0" anchor="ctr" anchorCtr="0">
            <a:spAutoFit/>
          </a:bodyPr>
          <a:lstStyle>
            <a:lvl1pPr marL="0" indent="0">
              <a:buFontTx/>
              <a:buNone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  <a:lvl2pPr marL="180000" indent="0">
              <a:buFontTx/>
              <a:buNone/>
              <a:defRPr/>
            </a:lvl2pPr>
            <a:lvl3pPr marL="360000" indent="0">
              <a:buFontTx/>
              <a:buNone/>
              <a:defRPr/>
            </a:lvl3pPr>
            <a:lvl4pPr marL="54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Footer 2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31B1511D-9CF7-9B3D-7A6C-6A711E747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58162" y="6456513"/>
            <a:ext cx="1933575" cy="133200"/>
          </a:xfrm>
        </p:spPr>
        <p:txBody>
          <a:bodyPr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 sz="80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Insert Footer 3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9C3E8A-A0A9-6DCA-0F77-BB3D725B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8C17F70C-C6B6-4530-AB78-56D1DECC7D69}" type="datetime4">
              <a:rPr lang="en-US" noProof="0" smtClean="0"/>
              <a:t>April 24, 2026</a:t>
            </a:fld>
            <a:r>
              <a:rPr lang="en-US" noProof="0"/>
              <a:t> </a:t>
            </a:r>
            <a:r>
              <a:rPr lang="en-US" noProof="0" dirty="0"/>
              <a:t>|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E8903E-DE30-9E96-4CEB-FF9E66A1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9"/>
          </p:nvPr>
        </p:nvSpPr>
        <p:spPr>
          <a:xfrm>
            <a:off x="1476001" y="6456513"/>
            <a:ext cx="2556250" cy="13131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 noProof="0"/>
              <a:t>Title of Presentation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FE21EC-3904-185A-A914-D4A9C465E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4314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F281917-B2FC-A411-2A4E-28F570B9BF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E4065A1-C208-BAED-C5E8-BEBBC1248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682040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4065A1-C208-BAED-C5E8-BEBBC12486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">
            <a:extLst>
              <a:ext uri="{FF2B5EF4-FFF2-40B4-BE49-F238E27FC236}">
                <a16:creationId xmlns:a16="http://schemas.microsoft.com/office/drawing/2014/main" id="{399F05E3-185A-3508-5E7A-E65592DEA6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624866"/>
            <a:ext cx="4618039" cy="1661993"/>
          </a:xfrm>
        </p:spPr>
        <p:txBody>
          <a:bodyPr vert="horz"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+mj-lt"/>
                <a:cs typeface="GFT Corporate SemiBold" pitchFamily="2" charset="0"/>
              </a:defRPr>
            </a:lvl1pPr>
          </a:lstStyle>
          <a:p>
            <a:r>
              <a:rPr lang="en-US" noProof="0" dirty="0"/>
              <a:t>Contact </a:t>
            </a:r>
            <a:br>
              <a:rPr lang="en-US" noProof="0" dirty="0"/>
            </a:br>
            <a:r>
              <a:rPr lang="en-US" noProof="0" dirty="0"/>
              <a:t>Information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3466AF2-865F-55DB-1AB2-9AD35B370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34295" y="3799195"/>
            <a:ext cx="4617243" cy="17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/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noProof="0" dirty="0"/>
              <a:t>GFT Technologies </a:t>
            </a:r>
            <a:br>
              <a:rPr lang="en-US" noProof="0" dirty="0"/>
            </a:br>
            <a:r>
              <a:rPr lang="en-US" noProof="0" dirty="0"/>
              <a:t>First name Last name</a:t>
            </a:r>
            <a:br>
              <a:rPr lang="en-US" noProof="0" dirty="0"/>
            </a:br>
            <a:r>
              <a:rPr lang="en-US" noProof="0" dirty="0"/>
              <a:t>Position</a:t>
            </a:r>
            <a:br>
              <a:rPr lang="en-US" noProof="0" dirty="0"/>
            </a:br>
            <a:r>
              <a:rPr lang="en-US" noProof="0" dirty="0"/>
              <a:t>Street address</a:t>
            </a:r>
            <a:br>
              <a:rPr lang="en-US" noProof="0" dirty="0"/>
            </a:br>
            <a:r>
              <a:rPr lang="en-US" noProof="0" dirty="0"/>
              <a:t>12345 City</a:t>
            </a:r>
            <a:br>
              <a:rPr lang="en-US" noProof="0" dirty="0"/>
            </a:br>
            <a:r>
              <a:rPr lang="en-US" noProof="0" dirty="0"/>
              <a:t>T +xx </a:t>
            </a:r>
            <a:r>
              <a:rPr lang="en-US" noProof="0" dirty="0" err="1"/>
              <a:t>xxxx</a:t>
            </a:r>
            <a:r>
              <a:rPr lang="en-US" noProof="0" dirty="0"/>
              <a:t> xxx-</a:t>
            </a:r>
            <a:r>
              <a:rPr lang="en-US" noProof="0" dirty="0" err="1"/>
              <a:t>xxxx</a:t>
            </a:r>
            <a:br>
              <a:rPr lang="en-US" noProof="0" dirty="0"/>
            </a:br>
            <a:r>
              <a:rPr lang="en-US" noProof="0" dirty="0"/>
              <a:t>Firstname.Lastname@gft.com</a:t>
            </a:r>
          </a:p>
        </p:txBody>
      </p:sp>
      <p:sp>
        <p:nvSpPr>
          <p:cNvPr id="3" name="Onlinebild-Platzhalter 11">
            <a:extLst>
              <a:ext uri="{FF2B5EF4-FFF2-40B4-BE49-F238E27FC236}">
                <a16:creationId xmlns:a16="http://schemas.microsoft.com/office/drawing/2014/main" id="{5A001466-B7DC-6338-59AB-4D31CA46F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clipArt" sz="quarter" idx="24" hasCustomPrompt="1"/>
          </p:nvPr>
        </p:nvSpPr>
        <p:spPr>
          <a:xfrm>
            <a:off x="414337" y="471488"/>
            <a:ext cx="1240631" cy="486624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l="-19421" t="-53667" r="-17671" b="-4796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E2F3C5F-86E0-A46A-ABAE-1A6877AFEC1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40464" y="3798404"/>
            <a:ext cx="1655762" cy="1655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0337CA9D-7884-CE78-7CBB-8D429285F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334294" y="6456513"/>
            <a:ext cx="3948905" cy="13131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de-DE" sz="800" b="0" i="0" kern="1200">
                <a:solidFill>
                  <a:schemeClr val="tx2"/>
                </a:solidFill>
                <a:latin typeface="GFT Corporate Light" pitchFamily="2" charset="0"/>
                <a:ea typeface="+mn-ea"/>
                <a:cs typeface="GFT Corporate Light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 dirty="0"/>
              <a:t>© 2025 | GFT Technologies SE and its affiliates. All rights reserved.</a:t>
            </a:r>
          </a:p>
        </p:txBody>
      </p:sp>
      <p:sp>
        <p:nvSpPr>
          <p:cNvPr id="7" name="Textfeld 1">
            <a:extLst>
              <a:ext uri="{FF2B5EF4-FFF2-40B4-BE49-F238E27FC236}">
                <a16:creationId xmlns:a16="http://schemas.microsoft.com/office/drawing/2014/main" id="{D24D5F20-86A6-290B-9A67-5D5051D6D9C7}"/>
              </a:ext>
            </a:extLst>
          </p:cNvPr>
          <p:cNvSpPr txBox="1">
            <a:spLocks/>
          </p:cNvSpPr>
          <p:nvPr userDrawn="1"/>
        </p:nvSpPr>
        <p:spPr>
          <a:xfrm>
            <a:off x="1333500" y="6194821"/>
            <a:ext cx="39893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en-US" sz="800" dirty="0">
                <a:solidFill>
                  <a:schemeClr val="tx2"/>
                </a:solidFill>
              </a:rPr>
              <a:t>Save resources: this presentation is optimized for screen use. Please avoid printing.</a:t>
            </a:r>
            <a:endParaRPr lang="en-GB" sz="800" dirty="0">
              <a:solidFill>
                <a:schemeClr val="tx2"/>
              </a:solidFill>
            </a:endParaRPr>
          </a:p>
        </p:txBody>
      </p:sp>
      <p:sp>
        <p:nvSpPr>
          <p:cNvPr id="9" name="Freihandform: Form 7">
            <a:extLst>
              <a:ext uri="{FF2B5EF4-FFF2-40B4-BE49-F238E27FC236}">
                <a16:creationId xmlns:a16="http://schemas.microsoft.com/office/drawing/2014/main" id="{6EB63724-44C2-9B2B-B930-AE2CA8A178D7}"/>
              </a:ext>
            </a:extLst>
          </p:cNvPr>
          <p:cNvSpPr/>
          <p:nvPr userDrawn="1"/>
        </p:nvSpPr>
        <p:spPr>
          <a:xfrm>
            <a:off x="1333500" y="5903350"/>
            <a:ext cx="270426" cy="264137"/>
          </a:xfrm>
          <a:custGeom>
            <a:avLst/>
            <a:gdLst>
              <a:gd name="connsiteX0" fmla="*/ 258858 w 522846"/>
              <a:gd name="connsiteY0" fmla="*/ 510687 h 510686"/>
              <a:gd name="connsiteX1" fmla="*/ 249333 w 522846"/>
              <a:gd name="connsiteY1" fmla="*/ 502114 h 510686"/>
              <a:gd name="connsiteX2" fmla="*/ 249333 w 522846"/>
              <a:gd name="connsiteY2" fmla="*/ 502114 h 510686"/>
              <a:gd name="connsiteX3" fmla="*/ 248380 w 522846"/>
              <a:gd name="connsiteY3" fmla="*/ 501162 h 510686"/>
              <a:gd name="connsiteX4" fmla="*/ 215995 w 522846"/>
              <a:gd name="connsiteY4" fmla="*/ 457347 h 510686"/>
              <a:gd name="connsiteX5" fmla="*/ 215043 w 522846"/>
              <a:gd name="connsiteY5" fmla="*/ 458299 h 510686"/>
              <a:gd name="connsiteX6" fmla="*/ 127413 w 522846"/>
              <a:gd name="connsiteY6" fmla="*/ 480207 h 510686"/>
              <a:gd name="connsiteX7" fmla="*/ 53118 w 522846"/>
              <a:gd name="connsiteY7" fmla="*/ 409722 h 510686"/>
              <a:gd name="connsiteX8" fmla="*/ 13113 w 522846"/>
              <a:gd name="connsiteY8" fmla="*/ 382099 h 510686"/>
              <a:gd name="connsiteX9" fmla="*/ 13113 w 522846"/>
              <a:gd name="connsiteY9" fmla="*/ 382099 h 510686"/>
              <a:gd name="connsiteX10" fmla="*/ 730 w 522846"/>
              <a:gd name="connsiteY10" fmla="*/ 377337 h 510686"/>
              <a:gd name="connsiteX11" fmla="*/ 5493 w 522846"/>
              <a:gd name="connsiteY11" fmla="*/ 364954 h 510686"/>
              <a:gd name="connsiteX12" fmla="*/ 5493 w 522846"/>
              <a:gd name="connsiteY12" fmla="*/ 364954 h 510686"/>
              <a:gd name="connsiteX13" fmla="*/ 173133 w 522846"/>
              <a:gd name="connsiteY13" fmla="*/ 326854 h 510686"/>
              <a:gd name="connsiteX14" fmla="*/ 234093 w 522846"/>
              <a:gd name="connsiteY14" fmla="*/ 398292 h 510686"/>
              <a:gd name="connsiteX15" fmla="*/ 225520 w 522846"/>
              <a:gd name="connsiteY15" fmla="*/ 408769 h 510686"/>
              <a:gd name="connsiteX16" fmla="*/ 215043 w 522846"/>
              <a:gd name="connsiteY16" fmla="*/ 400197 h 510686"/>
              <a:gd name="connsiteX17" fmla="*/ 167418 w 522846"/>
              <a:gd name="connsiteY17" fmla="*/ 344952 h 510686"/>
              <a:gd name="connsiteX18" fmla="*/ 45498 w 522846"/>
              <a:gd name="connsiteY18" fmla="*/ 366859 h 510686"/>
              <a:gd name="connsiteX19" fmla="*/ 70263 w 522846"/>
              <a:gd name="connsiteY19" fmla="*/ 400197 h 510686"/>
              <a:gd name="connsiteX20" fmla="*/ 135033 w 522846"/>
              <a:gd name="connsiteY20" fmla="*/ 462109 h 510686"/>
              <a:gd name="connsiteX21" fmla="*/ 204565 w 522846"/>
              <a:gd name="connsiteY21" fmla="*/ 444012 h 510686"/>
              <a:gd name="connsiteX22" fmla="*/ 134080 w 522846"/>
              <a:gd name="connsiteY22" fmla="*/ 401149 h 510686"/>
              <a:gd name="connsiteX23" fmla="*/ 126460 w 522846"/>
              <a:gd name="connsiteY23" fmla="*/ 389719 h 510686"/>
              <a:gd name="connsiteX24" fmla="*/ 137890 w 522846"/>
              <a:gd name="connsiteY24" fmla="*/ 382099 h 510686"/>
              <a:gd name="connsiteX25" fmla="*/ 246475 w 522846"/>
              <a:gd name="connsiteY25" fmla="*/ 464014 h 510686"/>
              <a:gd name="connsiteX26" fmla="*/ 322675 w 522846"/>
              <a:gd name="connsiteY26" fmla="*/ 182074 h 510686"/>
              <a:gd name="connsiteX27" fmla="*/ 336010 w 522846"/>
              <a:gd name="connsiteY27" fmla="*/ 181122 h 510686"/>
              <a:gd name="connsiteX28" fmla="*/ 336963 w 522846"/>
              <a:gd name="connsiteY28" fmla="*/ 194457 h 510686"/>
              <a:gd name="connsiteX29" fmla="*/ 271240 w 522846"/>
              <a:gd name="connsiteY29" fmla="*/ 363049 h 510686"/>
              <a:gd name="connsiteX30" fmla="*/ 281718 w 522846"/>
              <a:gd name="connsiteY30" fmla="*/ 363049 h 510686"/>
              <a:gd name="connsiteX31" fmla="*/ 424593 w 522846"/>
              <a:gd name="connsiteY31" fmla="*/ 305899 h 510686"/>
              <a:gd name="connsiteX32" fmla="*/ 456025 w 522846"/>
              <a:gd name="connsiteY32" fmla="*/ 123019 h 510686"/>
              <a:gd name="connsiteX33" fmla="*/ 464598 w 522846"/>
              <a:gd name="connsiteY33" fmla="*/ 28722 h 510686"/>
              <a:gd name="connsiteX34" fmla="*/ 217900 w 522846"/>
              <a:gd name="connsiteY34" fmla="*/ 143974 h 510686"/>
              <a:gd name="connsiteX35" fmla="*/ 205518 w 522846"/>
              <a:gd name="connsiteY35" fmla="*/ 299232 h 510686"/>
              <a:gd name="connsiteX36" fmla="*/ 202660 w 522846"/>
              <a:gd name="connsiteY36" fmla="*/ 312567 h 510686"/>
              <a:gd name="connsiteX37" fmla="*/ 189325 w 522846"/>
              <a:gd name="connsiteY37" fmla="*/ 309709 h 510686"/>
              <a:gd name="connsiteX38" fmla="*/ 202660 w 522846"/>
              <a:gd name="connsiteY38" fmla="*/ 133497 h 510686"/>
              <a:gd name="connsiteX39" fmla="*/ 511270 w 522846"/>
              <a:gd name="connsiteY39" fmla="*/ 147 h 510686"/>
              <a:gd name="connsiteX40" fmla="*/ 522700 w 522846"/>
              <a:gd name="connsiteY40" fmla="*/ 7767 h 510686"/>
              <a:gd name="connsiteX41" fmla="*/ 515080 w 522846"/>
              <a:gd name="connsiteY41" fmla="*/ 19197 h 510686"/>
              <a:gd name="connsiteX42" fmla="*/ 475075 w 522846"/>
              <a:gd name="connsiteY42" fmla="*/ 121114 h 510686"/>
              <a:gd name="connsiteX43" fmla="*/ 439833 w 522846"/>
              <a:gd name="connsiteY43" fmla="*/ 316377 h 510686"/>
              <a:gd name="connsiteX44" fmla="*/ 280765 w 522846"/>
              <a:gd name="connsiteY44" fmla="*/ 381147 h 510686"/>
              <a:gd name="connsiteX45" fmla="*/ 268383 w 522846"/>
              <a:gd name="connsiteY45" fmla="*/ 381147 h 510686"/>
              <a:gd name="connsiteX46" fmla="*/ 268383 w 522846"/>
              <a:gd name="connsiteY46" fmla="*/ 500209 h 510686"/>
              <a:gd name="connsiteX47" fmla="*/ 259810 w 522846"/>
              <a:gd name="connsiteY47" fmla="*/ 510687 h 510686"/>
              <a:gd name="connsiteX48" fmla="*/ 258858 w 522846"/>
              <a:gd name="connsiteY48" fmla="*/ 510687 h 51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522846" h="510686">
                <a:moveTo>
                  <a:pt x="258858" y="510687"/>
                </a:moveTo>
                <a:cubicBezTo>
                  <a:pt x="254095" y="510687"/>
                  <a:pt x="250285" y="506877"/>
                  <a:pt x="249333" y="502114"/>
                </a:cubicBezTo>
                <a:cubicBezTo>
                  <a:pt x="249333" y="502114"/>
                  <a:pt x="249333" y="502114"/>
                  <a:pt x="249333" y="502114"/>
                </a:cubicBezTo>
                <a:cubicBezTo>
                  <a:pt x="249333" y="502114"/>
                  <a:pt x="249333" y="501162"/>
                  <a:pt x="248380" y="501162"/>
                </a:cubicBezTo>
                <a:cubicBezTo>
                  <a:pt x="237903" y="484017"/>
                  <a:pt x="227425" y="468777"/>
                  <a:pt x="215995" y="457347"/>
                </a:cubicBezTo>
                <a:cubicBezTo>
                  <a:pt x="215995" y="457347"/>
                  <a:pt x="215043" y="458299"/>
                  <a:pt x="215043" y="458299"/>
                </a:cubicBezTo>
                <a:cubicBezTo>
                  <a:pt x="213138" y="460204"/>
                  <a:pt x="168370" y="493542"/>
                  <a:pt x="127413" y="480207"/>
                </a:cubicBezTo>
                <a:cubicBezTo>
                  <a:pt x="86455" y="466872"/>
                  <a:pt x="68358" y="435439"/>
                  <a:pt x="53118" y="409722"/>
                </a:cubicBezTo>
                <a:cubicBezTo>
                  <a:pt x="35973" y="380194"/>
                  <a:pt x="29305" y="374479"/>
                  <a:pt x="13113" y="382099"/>
                </a:cubicBezTo>
                <a:cubicBezTo>
                  <a:pt x="13113" y="382099"/>
                  <a:pt x="13113" y="382099"/>
                  <a:pt x="13113" y="382099"/>
                </a:cubicBezTo>
                <a:cubicBezTo>
                  <a:pt x="8350" y="384004"/>
                  <a:pt x="2635" y="382099"/>
                  <a:pt x="730" y="377337"/>
                </a:cubicBezTo>
                <a:cubicBezTo>
                  <a:pt x="-1175" y="372574"/>
                  <a:pt x="730" y="366859"/>
                  <a:pt x="5493" y="364954"/>
                </a:cubicBezTo>
                <a:cubicBezTo>
                  <a:pt x="5493" y="364954"/>
                  <a:pt x="5493" y="364954"/>
                  <a:pt x="5493" y="364954"/>
                </a:cubicBezTo>
                <a:cubicBezTo>
                  <a:pt x="101695" y="317329"/>
                  <a:pt x="126460" y="311614"/>
                  <a:pt x="173133" y="326854"/>
                </a:cubicBezTo>
                <a:cubicBezTo>
                  <a:pt x="228378" y="344952"/>
                  <a:pt x="233140" y="396387"/>
                  <a:pt x="234093" y="398292"/>
                </a:cubicBezTo>
                <a:cubicBezTo>
                  <a:pt x="234093" y="403054"/>
                  <a:pt x="230283" y="407817"/>
                  <a:pt x="225520" y="408769"/>
                </a:cubicBezTo>
                <a:cubicBezTo>
                  <a:pt x="219805" y="409722"/>
                  <a:pt x="215995" y="404959"/>
                  <a:pt x="215043" y="400197"/>
                </a:cubicBezTo>
                <a:cubicBezTo>
                  <a:pt x="215043" y="398292"/>
                  <a:pt x="210280" y="360192"/>
                  <a:pt x="167418" y="344952"/>
                </a:cubicBezTo>
                <a:cubicBezTo>
                  <a:pt x="132175" y="333522"/>
                  <a:pt x="111220" y="335427"/>
                  <a:pt x="45498" y="366859"/>
                </a:cubicBezTo>
                <a:cubicBezTo>
                  <a:pt x="55023" y="374479"/>
                  <a:pt x="62643" y="386862"/>
                  <a:pt x="70263" y="400197"/>
                </a:cubicBezTo>
                <a:cubicBezTo>
                  <a:pt x="84550" y="424009"/>
                  <a:pt x="100743" y="450679"/>
                  <a:pt x="135033" y="462109"/>
                </a:cubicBezTo>
                <a:cubicBezTo>
                  <a:pt x="165513" y="472587"/>
                  <a:pt x="201708" y="445917"/>
                  <a:pt x="204565" y="444012"/>
                </a:cubicBezTo>
                <a:cubicBezTo>
                  <a:pt x="167418" y="408769"/>
                  <a:pt x="135033" y="401149"/>
                  <a:pt x="134080" y="401149"/>
                </a:cubicBezTo>
                <a:cubicBezTo>
                  <a:pt x="129318" y="400197"/>
                  <a:pt x="125508" y="395434"/>
                  <a:pt x="126460" y="389719"/>
                </a:cubicBezTo>
                <a:cubicBezTo>
                  <a:pt x="127413" y="384957"/>
                  <a:pt x="132175" y="381147"/>
                  <a:pt x="137890" y="382099"/>
                </a:cubicBezTo>
                <a:cubicBezTo>
                  <a:pt x="140748" y="383052"/>
                  <a:pt x="195993" y="395434"/>
                  <a:pt x="246475" y="464014"/>
                </a:cubicBezTo>
                <a:cubicBezTo>
                  <a:pt x="238855" y="277324"/>
                  <a:pt x="318865" y="185884"/>
                  <a:pt x="322675" y="182074"/>
                </a:cubicBezTo>
                <a:cubicBezTo>
                  <a:pt x="326485" y="178264"/>
                  <a:pt x="332200" y="178264"/>
                  <a:pt x="336010" y="181122"/>
                </a:cubicBezTo>
                <a:cubicBezTo>
                  <a:pt x="339820" y="184932"/>
                  <a:pt x="339820" y="190647"/>
                  <a:pt x="336963" y="194457"/>
                </a:cubicBezTo>
                <a:cubicBezTo>
                  <a:pt x="336010" y="195409"/>
                  <a:pt x="287433" y="251607"/>
                  <a:pt x="271240" y="363049"/>
                </a:cubicBezTo>
                <a:lnTo>
                  <a:pt x="281718" y="363049"/>
                </a:lnTo>
                <a:cubicBezTo>
                  <a:pt x="282670" y="363049"/>
                  <a:pt x="383635" y="364954"/>
                  <a:pt x="424593" y="305899"/>
                </a:cubicBezTo>
                <a:cubicBezTo>
                  <a:pt x="467455" y="243987"/>
                  <a:pt x="461740" y="177312"/>
                  <a:pt x="456025" y="123019"/>
                </a:cubicBezTo>
                <a:cubicBezTo>
                  <a:pt x="452215" y="86824"/>
                  <a:pt x="449358" y="51582"/>
                  <a:pt x="464598" y="28722"/>
                </a:cubicBezTo>
                <a:cubicBezTo>
                  <a:pt x="303625" y="58249"/>
                  <a:pt x="264573" y="78252"/>
                  <a:pt x="217900" y="143974"/>
                </a:cubicBezTo>
                <a:cubicBezTo>
                  <a:pt x="161703" y="223984"/>
                  <a:pt x="203613" y="296374"/>
                  <a:pt x="205518" y="299232"/>
                </a:cubicBezTo>
                <a:cubicBezTo>
                  <a:pt x="208375" y="303994"/>
                  <a:pt x="206470" y="309709"/>
                  <a:pt x="202660" y="312567"/>
                </a:cubicBezTo>
                <a:cubicBezTo>
                  <a:pt x="197898" y="315424"/>
                  <a:pt x="192183" y="313519"/>
                  <a:pt x="189325" y="309709"/>
                </a:cubicBezTo>
                <a:cubicBezTo>
                  <a:pt x="187420" y="305899"/>
                  <a:pt x="138843" y="223984"/>
                  <a:pt x="202660" y="133497"/>
                </a:cubicBezTo>
                <a:cubicBezTo>
                  <a:pt x="256953" y="55392"/>
                  <a:pt x="300768" y="37294"/>
                  <a:pt x="511270" y="147"/>
                </a:cubicBezTo>
                <a:cubicBezTo>
                  <a:pt x="516033" y="-806"/>
                  <a:pt x="521748" y="3004"/>
                  <a:pt x="522700" y="7767"/>
                </a:cubicBezTo>
                <a:cubicBezTo>
                  <a:pt x="523653" y="12529"/>
                  <a:pt x="519843" y="18244"/>
                  <a:pt x="515080" y="19197"/>
                </a:cubicBezTo>
                <a:cubicBezTo>
                  <a:pt x="468408" y="26817"/>
                  <a:pt x="468408" y="57297"/>
                  <a:pt x="475075" y="121114"/>
                </a:cubicBezTo>
                <a:cubicBezTo>
                  <a:pt x="480790" y="178264"/>
                  <a:pt x="487458" y="248749"/>
                  <a:pt x="439833" y="316377"/>
                </a:cubicBezTo>
                <a:cubicBezTo>
                  <a:pt x="392208" y="383052"/>
                  <a:pt x="285528" y="381147"/>
                  <a:pt x="280765" y="381147"/>
                </a:cubicBezTo>
                <a:lnTo>
                  <a:pt x="268383" y="381147"/>
                </a:lnTo>
                <a:cubicBezTo>
                  <a:pt x="264573" y="416389"/>
                  <a:pt x="263620" y="455442"/>
                  <a:pt x="268383" y="500209"/>
                </a:cubicBezTo>
                <a:cubicBezTo>
                  <a:pt x="269335" y="504972"/>
                  <a:pt x="265525" y="509734"/>
                  <a:pt x="259810" y="510687"/>
                </a:cubicBezTo>
                <a:cubicBezTo>
                  <a:pt x="259810" y="510687"/>
                  <a:pt x="258858" y="510687"/>
                  <a:pt x="258858" y="510687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03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0" userDrawn="1">
          <p15:clr>
            <a:srgbClr val="FBAE40"/>
          </p15:clr>
        </p15:guide>
        <p15:guide id="2" orient="horz" pos="238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D601A52-95D7-D524-4F61-2D096734F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94" y="766501"/>
            <a:ext cx="11303794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C43ACA-D718-36E7-C6CC-C55E1C6B3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295" y="2458244"/>
            <a:ext cx="11303794" cy="38600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7488181-00F5-FAD3-25A1-976C9248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104722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6" imgW="347" imgH="348" progId="TCLayout.ActiveDocument.1">
                  <p:embed/>
                </p:oleObj>
              </mc:Choice>
              <mc:Fallback>
                <p:oleObj name="think-cell Slide" r:id="rId16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488181-00F5-FAD3-25A1-976C92483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F79DCCEA-2BFE-57F0-4229-70772C264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350960" y="6456513"/>
            <a:ext cx="0" cy="401487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540A63A3-7CF9-6359-880A-1F18699EF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51204" y="6404078"/>
            <a:ext cx="590413" cy="2811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4696E-200E-95F0-A8B9-D36E5A58D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9200" y="6456513"/>
            <a:ext cx="324000" cy="1332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algn="r">
              <a:lnSpc>
                <a:spcPct val="100000"/>
              </a:lnSpc>
              <a:spcBef>
                <a:spcPts val="1000"/>
              </a:spcBef>
              <a:defRPr sz="800" b="0" i="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>
              <a:spcBef>
                <a:spcPts val="0"/>
              </a:spcBef>
            </a:pPr>
            <a:fld id="{B2508EB9-07EC-4D1A-9A39-1C5283F69653}" type="slidenum">
              <a:rPr lang="en-US" noProof="0" smtClean="0"/>
              <a:pPr>
                <a:spcBef>
                  <a:spcPts val="0"/>
                </a:spcBef>
              </a:pPr>
              <a:t>‹Nr.›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F05B320-B66D-044E-8BD6-3632FBECD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76001" y="6456513"/>
            <a:ext cx="2556250" cy="13131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de-DE" sz="800" b="0" i="0">
                <a:solidFill>
                  <a:schemeClr val="tx2"/>
                </a:solidFill>
                <a:latin typeface="GFT Corporate Light" pitchFamily="2" charset="0"/>
                <a:cs typeface="GFT Corporate Light" pitchFamily="2" charset="0"/>
              </a:defRPr>
            </a:lvl1pPr>
          </a:lstStyle>
          <a:p>
            <a:pPr>
              <a:lnSpc>
                <a:spcPct val="120000"/>
              </a:lnSpc>
              <a:spcBef>
                <a:spcPts val="500"/>
              </a:spcBef>
              <a:buClr>
                <a:schemeClr val="tx2"/>
              </a:buClr>
            </a:pPr>
            <a:r>
              <a:rPr lang="en-US" dirty="0"/>
              <a:t>Title of Presentation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CDA1B58-277E-BCCC-1950-57EB81CBE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24000" y="6456513"/>
            <a:ext cx="1195200" cy="13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E425F5DC-A670-472C-8764-DD4E51A3863B}" type="datetime4">
              <a:rPr lang="en-US" noProof="0" smtClean="0"/>
              <a:t>April 24, 2026</a:t>
            </a:fld>
            <a:r>
              <a:rPr lang="en-US" noProof="0"/>
              <a:t> </a:t>
            </a:r>
            <a:r>
              <a:rPr lang="en-US" noProof="0" dirty="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12435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3" r:id="rId3"/>
    <p:sldLayoutId id="2147483681" r:id="rId4"/>
    <p:sldLayoutId id="2147483684" r:id="rId5"/>
    <p:sldLayoutId id="2147483685" r:id="rId6"/>
    <p:sldLayoutId id="2147483680" r:id="rId7"/>
    <p:sldLayoutId id="2147483674" r:id="rId8"/>
    <p:sldLayoutId id="2147483686" r:id="rId9"/>
    <p:sldLayoutId id="2147483687" r:id="rId10"/>
    <p:sldLayoutId id="2147483688" r:id="rId11"/>
    <p:sldLayoutId id="2147483673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+mj-lt"/>
          <a:ea typeface="+mj-ea"/>
          <a:cs typeface="GFT Corporate SemiBold" pitchFamily="2" charset="0"/>
        </a:defRPr>
      </a:lvl1pPr>
    </p:titleStyle>
    <p:bodyStyle>
      <a:lvl1pPr marL="180000" indent="-180000" algn="l" defTabSz="914400" rtl="0" eaLnBrk="1" latinLnBrk="0" hangingPunct="1">
        <a:lnSpc>
          <a:spcPct val="12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§"/>
        <a:defRPr sz="1200" b="0" i="0" kern="1200">
          <a:solidFill>
            <a:schemeClr val="tx2"/>
          </a:solidFill>
          <a:latin typeface="+mn-lt"/>
          <a:ea typeface="+mn-ea"/>
          <a:cs typeface="GFT Corporate Light" pitchFamily="2" charset="0"/>
        </a:defRPr>
      </a:lvl1pPr>
      <a:lvl2pPr marL="360000" indent="-180000" algn="l" defTabSz="914400" rtl="0" eaLnBrk="1" latinLnBrk="0" hangingPunct="1">
        <a:lnSpc>
          <a:spcPct val="12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§"/>
        <a:defRPr sz="1200" b="0" i="0" kern="1200">
          <a:solidFill>
            <a:schemeClr val="tx2"/>
          </a:solidFill>
          <a:latin typeface="+mn-lt"/>
          <a:ea typeface="+mn-ea"/>
          <a:cs typeface="GFT Corporate Light" pitchFamily="2" charset="0"/>
        </a:defRPr>
      </a:lvl2pPr>
      <a:lvl3pPr marL="540000" indent="-180000" algn="l" defTabSz="914400" rtl="0" eaLnBrk="1" latinLnBrk="0" hangingPunct="1">
        <a:lnSpc>
          <a:spcPct val="12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§"/>
        <a:defRPr sz="1200" b="0" i="0" kern="1200">
          <a:solidFill>
            <a:schemeClr val="tx2"/>
          </a:solidFill>
          <a:latin typeface="+mn-lt"/>
          <a:ea typeface="+mn-ea"/>
          <a:cs typeface="GFT Corporate Light" pitchFamily="2" charset="0"/>
        </a:defRPr>
      </a:lvl3pPr>
      <a:lvl4pPr marL="720000" indent="-180000" algn="l" defTabSz="914400" rtl="0" eaLnBrk="1" latinLnBrk="0" hangingPunct="1">
        <a:lnSpc>
          <a:spcPct val="12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§"/>
        <a:defRPr sz="1200" b="0" i="0" kern="1200">
          <a:solidFill>
            <a:schemeClr val="tx2"/>
          </a:solidFill>
          <a:latin typeface="+mn-lt"/>
          <a:ea typeface="+mn-ea"/>
          <a:cs typeface="GFT Corporate Light" pitchFamily="2" charset="0"/>
        </a:defRPr>
      </a:lvl4pPr>
      <a:lvl5pPr marL="900000" indent="-180000" algn="l" defTabSz="914400" rtl="0" eaLnBrk="1" latinLnBrk="0" hangingPunct="1">
        <a:lnSpc>
          <a:spcPct val="12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§"/>
        <a:defRPr sz="1200" b="0" i="0" kern="1200">
          <a:solidFill>
            <a:schemeClr val="tx2"/>
          </a:solidFill>
          <a:latin typeface="+mn-lt"/>
          <a:ea typeface="+mn-ea"/>
          <a:cs typeface="GFT Corporate Light" pitchFamily="2" charset="0"/>
        </a:defRPr>
      </a:lvl5pPr>
      <a:lvl6pPr marL="1080000" indent="-180000" algn="l" defTabSz="914400" rtl="0" eaLnBrk="1" latinLnBrk="0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260000" indent="-180000" algn="l" defTabSz="914400" rtl="0" eaLnBrk="1" latinLnBrk="0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1440000" indent="-180000" algn="l" defTabSz="914400" rtl="0" eaLnBrk="1" latinLnBrk="0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1620000" indent="-180000" algn="l" defTabSz="914400" rtl="0" eaLnBrk="1" latinLnBrk="0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3980" userDrawn="1">
          <p15:clr>
            <a:srgbClr val="F26B43"/>
          </p15:clr>
        </p15:guide>
        <p15:guide id="5" orient="horz" pos="1547" userDrawn="1">
          <p15:clr>
            <a:srgbClr val="F26B43"/>
          </p15:clr>
        </p15:guide>
        <p15:guide id="6" pos="1494" userDrawn="1">
          <p15:clr>
            <a:srgbClr val="F26B43"/>
          </p15:clr>
        </p15:guide>
        <p15:guide id="8" pos="2540" userDrawn="1">
          <p15:clr>
            <a:srgbClr val="F26B43"/>
          </p15:clr>
        </p15:guide>
        <p15:guide id="9" pos="2711" userDrawn="1">
          <p15:clr>
            <a:srgbClr val="F26B43"/>
          </p15:clr>
        </p15:guide>
        <p15:guide id="10" pos="3753" userDrawn="1">
          <p15:clr>
            <a:srgbClr val="F26B43"/>
          </p15:clr>
        </p15:guide>
        <p15:guide id="11" pos="3926" userDrawn="1">
          <p15:clr>
            <a:srgbClr val="F26B43"/>
          </p15:clr>
        </p15:guide>
        <p15:guide id="12" pos="4971" userDrawn="1">
          <p15:clr>
            <a:srgbClr val="F26B43"/>
          </p15:clr>
        </p15:guide>
        <p15:guide id="13" pos="5139" userDrawn="1">
          <p15:clr>
            <a:srgbClr val="F26B43"/>
          </p15:clr>
        </p15:guide>
        <p15:guide id="14" pos="6185" userDrawn="1">
          <p15:clr>
            <a:srgbClr val="F26B43"/>
          </p15:clr>
        </p15:guide>
        <p15:guide id="15" pos="6357" userDrawn="1">
          <p15:clr>
            <a:srgbClr val="F26B43"/>
          </p15:clr>
        </p15:guide>
        <p15:guide id="16" orient="horz" pos="300" userDrawn="1">
          <p15:clr>
            <a:srgbClr val="F26B43"/>
          </p15:clr>
        </p15:guide>
        <p15:guide id="20" orient="horz" pos="4151" userDrawn="1">
          <p15:clr>
            <a:srgbClr val="F26B43"/>
          </p15:clr>
        </p15:guide>
        <p15:guide id="22" pos="1323" userDrawn="1">
          <p15:clr>
            <a:srgbClr val="F26B43"/>
          </p15:clr>
        </p15:guide>
        <p15:guide id="23" orient="horz" pos="4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914400"/>
            <a:ext cx="384048" cy="73152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0972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199E2"/>
                </a:solidFill>
                <a:latin typeface="GFT Corporate Light"/>
              </a:rPr>
              <a:t>Zielarchitektur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417320"/>
            <a:ext cx="4114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FT Corporate SemiBold"/>
              </a:rPr>
              <a:t>Backend for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FT Corporate SemiBold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384048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DE0E5"/>
                </a:solidFill>
                <a:latin typeface="GFT Corporate Light"/>
              </a:rPr>
              <a:t>Einordnung der Entscheidung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DDE0E5"/>
                </a:solidFill>
                <a:latin typeface="GFT Corporate Light"/>
              </a:rPr>
              <a:t>für komplexere Vorhaben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43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199E2"/>
                </a:solidFill>
                <a:latin typeface="GFT Corporate SemiBold"/>
              </a:rPr>
              <a:t>Theorie · Architektur · Live-Demo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2362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EB5BD"/>
                </a:solidFill>
                <a:latin typeface="GFT Corporate Light"/>
              </a:rPr>
              <a:t>Für Entscheider und Full-Stack-Entwickler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09728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6BD6"/>
                </a:solidFill>
                <a:latin typeface="GFT Corporate Light"/>
              </a:rPr>
              <a:t>Kernidee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417320"/>
            <a:ext cx="61264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/>
              <a:t>Integrations-, Aggregations-</a:t>
            </a:r>
          </a:p>
          <a:p>
            <a:r>
              <a:rPr sz="2000"/>
              <a:t>und Orchestrierungskomplexität</a:t>
            </a:r>
          </a:p>
          <a:p>
            <a:r>
              <a:rPr sz="2000"/>
              <a:t>gezielt ins Backend verlagern.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4206240"/>
            <a:ext cx="2834640" cy="1280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0" y="4206240"/>
            <a:ext cx="73152" cy="128016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43891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1326"/>
                </a:solidFill>
                <a:latin typeface="GFT Corporate SemiBold"/>
              </a:rPr>
              <a:t>Weniger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8920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/>
              <a:t>Integrationslogik</a:t>
            </a:r>
          </a:p>
          <a:p>
            <a:r>
              <a:rPr sz="1500"/>
              <a:t>im TypeScript-Frontend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4206240"/>
            <a:ext cx="2834640" cy="1280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78240" y="4206240"/>
            <a:ext cx="73152" cy="128016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43891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1326"/>
                </a:solidFill>
                <a:latin typeface="GFT Corporate SemiBold"/>
              </a:rPr>
              <a:t>Mehr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8920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/>
              <a:t>Kapselung, Sicherheit</a:t>
            </a:r>
          </a:p>
          <a:p>
            <a:r>
              <a:rPr sz="1500"/>
              <a:t>und Änderbarkeit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6236208"/>
            <a:ext cx="6126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EB5BD"/>
                </a:solidFill>
                <a:latin typeface="GFT Corporate Light"/>
              </a:rPr>
              <a:t>April 2026 |  ·  GFT  ·  Architektur-Session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/>
              <a:t>Die Entscheidung ist gefallen —</a:t>
            </a:r>
          </a:p>
          <a:p>
            <a:r>
              <a:rPr sz="2800"/>
              <a:t>jetzt geht es um die Konsequenzen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/>
              <a:t>Bei komplexeren Vorhaben setzen wir auf ein Backend for Frontend.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606040"/>
            <a:ext cx="3703320" cy="3474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606040"/>
            <a:ext cx="73152" cy="347472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1326"/>
                </a:solidFill>
                <a:latin typeface="GFT Corporate SemiBold"/>
              </a:rPr>
              <a:t>Ausgangslage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383280"/>
            <a:ext cx="32461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/>
              <a:t>Mit wachsender Komplexität landen im Frontend Aufgaben wie</a:t>
            </a:r>
          </a:p>
          <a:p>
            <a:r>
              <a:rPr sz="1350"/>
              <a:t>Aggregation, Orchestrierung, Token-Handling und Fehlerlogik.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606040"/>
            <a:ext cx="3703320" cy="3474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2606040"/>
            <a:ext cx="73152" cy="347472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1326"/>
                </a:solidFill>
                <a:latin typeface="GFT Corporate SemiBold"/>
              </a:rPr>
              <a:t>Entscheidung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383280"/>
            <a:ext cx="32461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/>
              <a:t>Für komplexere Vorhaben führen wir ein BFF ein.</a:t>
            </a:r>
          </a:p>
          <a:p>
            <a:r>
              <a:rPr sz="1350"/>
              <a:t>Für einfache Szenarien bleibt Direct-to-Service valide.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2606040"/>
            <a:ext cx="3703320" cy="3474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2606040"/>
            <a:ext cx="73152" cy="347472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1326"/>
                </a:solidFill>
                <a:latin typeface="GFT Corporate SemiBold"/>
              </a:rPr>
              <a:t>Fokus heute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383280"/>
            <a:ext cx="32461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/>
              <a:t>Was bedeutet das für Architektur, Entwicklung</a:t>
            </a:r>
          </a:p>
          <a:p>
            <a:r>
              <a:rPr sz="1350"/>
              <a:t>und Zusammenarbeit — und wie zeigt es die Demo?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263640"/>
            <a:ext cx="11338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/>
              <a:t>Nicht „BFF immer“ — gezielter Einsatz dort, wo Komplexität echten Nutzen bringt.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01326"/>
                </a:solidFill>
                <a:latin typeface="GFT Corporate SemiBold"/>
              </a:rPr>
              <a:t>Zwei Ansätze im Überblick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65462"/>
                </a:solidFill>
                <a:latin typeface="GFT Corporate Light"/>
              </a:rPr>
              <a:t>Direct-to-Service SPA vs. SPA mit Backend for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514600"/>
            <a:ext cx="5577840" cy="3291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14600"/>
            <a:ext cx="73152" cy="3291840"/>
          </a:xfrm>
          <a:prstGeom prst="rect">
            <a:avLst/>
          </a:prstGeom>
          <a:solidFill>
            <a:srgbClr val="4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1326"/>
                </a:solidFill>
                <a:latin typeface="GFT Corporate SemiBold"/>
              </a:rPr>
              <a:t>Direct-to-Service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4495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/>
              <a:t>Frontend spricht direkt</a:t>
            </a:r>
          </a:p>
          <a:p>
            <a:r>
              <a:rPr sz="1300"/>
              <a:t>mit mehreren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21991" y="3474720"/>
            <a:ext cx="20116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1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 b="1">
                <a:solidFill>
                  <a:srgbClr val="001326"/>
                </a:solidFill>
                <a:latin typeface="GFT Corporate SemiBold"/>
              </a:rPr>
              <a:t>Frontend (SPA / TypeScript)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3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56815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7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C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197863" y="4114800"/>
            <a:ext cx="2029969" cy="68580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551175" y="4114800"/>
            <a:ext cx="676657" cy="68580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27832" y="4114800"/>
            <a:ext cx="676655" cy="68580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27832" y="4114800"/>
            <a:ext cx="2029968" cy="68580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45352" y="2514600"/>
            <a:ext cx="5577840" cy="3291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5352" y="2514600"/>
            <a:ext cx="73152" cy="329184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2697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>
                <a:solidFill>
                  <a:srgbClr val="001326"/>
                </a:solidFill>
                <a:latin typeface="GFT Corporate SemiBold"/>
              </a:rPr>
              <a:t>SPA </a:t>
            </a:r>
            <a:r>
              <a:rPr sz="1500" b="1" dirty="0" err="1">
                <a:solidFill>
                  <a:srgbClr val="001326"/>
                </a:solidFill>
                <a:latin typeface="GFT Corporate SemiBold"/>
              </a:rPr>
              <a:t>mit</a:t>
            </a:r>
            <a:r>
              <a:rPr sz="1500" b="1" dirty="0">
                <a:solidFill>
                  <a:srgbClr val="001326"/>
                </a:solidFill>
                <a:latin typeface="GFT Corporate SemiBold"/>
              </a:rPr>
              <a:t> BFF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04495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/>
              <a:t>Ein zentraler Call —</a:t>
            </a:r>
          </a:p>
          <a:p>
            <a:r>
              <a:rPr sz="1300"/>
              <a:t>ein klarer Vertrag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9288" y="2953512"/>
            <a:ext cx="20116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1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 b="1" dirty="0">
                <a:solidFill>
                  <a:srgbClr val="001326"/>
                </a:solidFill>
                <a:latin typeface="GFT Corporate SemiBold"/>
              </a:rPr>
              <a:t>Frontend (SPA / TypeScript)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9288" y="3913632"/>
            <a:ext cx="2011680" cy="548640"/>
          </a:xfrm>
          <a:prstGeom prst="roundRect">
            <a:avLst>
              <a:gd name="adj" fmla="val 4000"/>
            </a:avLst>
          </a:prstGeom>
          <a:solidFill>
            <a:srgbClr val="006BD6"/>
          </a:solidFill>
          <a:ln w="12700">
            <a:solidFill>
              <a:srgbClr val="00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FT Corporate SemiBold"/>
              </a:rPr>
              <a:t>BFF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9944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Auth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63256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16567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9880" y="4800600"/>
            <a:ext cx="118872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C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9025128" y="3593592"/>
            <a:ext cx="0" cy="320273"/>
          </a:xfrm>
          <a:prstGeom prst="line">
            <a:avLst/>
          </a:prstGeom>
          <a:ln w="2540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endCxn id="31" idx="0"/>
          </p:cNvCxnSpPr>
          <p:nvPr/>
        </p:nvCxnSpPr>
        <p:spPr>
          <a:xfrm>
            <a:off x="9070076" y="4465650"/>
            <a:ext cx="1994164" cy="334950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  <a:endCxn id="30" idx="0"/>
          </p:cNvCxnSpPr>
          <p:nvPr/>
        </p:nvCxnSpPr>
        <p:spPr>
          <a:xfrm>
            <a:off x="8998467" y="4443592"/>
            <a:ext cx="712460" cy="357008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  <a:endCxn id="29" idx="0"/>
          </p:cNvCxnSpPr>
          <p:nvPr/>
        </p:nvCxnSpPr>
        <p:spPr>
          <a:xfrm flipH="1">
            <a:off x="8357616" y="4478260"/>
            <a:ext cx="676656" cy="322340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cxnSpLocks/>
            <a:endCxn id="28" idx="0"/>
          </p:cNvCxnSpPr>
          <p:nvPr/>
        </p:nvCxnSpPr>
        <p:spPr>
          <a:xfrm flipH="1">
            <a:off x="7004304" y="4456288"/>
            <a:ext cx="2056016" cy="344312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8912" y="59893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Viele Verantwortlichkeiten</a:t>
            </a:r>
          </a:p>
          <a:p>
            <a:r>
              <a:rPr sz="1250"/>
              <a:t>im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59893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Komplexität gekapselt</a:t>
            </a:r>
          </a:p>
          <a:p>
            <a:r>
              <a:rPr sz="1250"/>
              <a:t>im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01326"/>
                </a:solidFill>
                <a:latin typeface="GFT Corporate SemiBold"/>
              </a:rPr>
              <a:t>Was sich wirklich ändert: Verantwortlichkeiten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/>
              <a:t>Nicht nur der Request-Pfad — sondern wer welche Aufgabe übernimmt.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514600"/>
            <a:ext cx="4114800" cy="411480"/>
          </a:xfrm>
          <a:prstGeom prst="rect">
            <a:avLst/>
          </a:prstGeom>
          <a:solidFill>
            <a:srgbClr val="00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99432" y="2514600"/>
            <a:ext cx="3657600" cy="411480"/>
          </a:xfrm>
          <a:prstGeom prst="rect">
            <a:avLst/>
          </a:prstGeom>
          <a:solidFill>
            <a:srgbClr val="4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02752" y="2514600"/>
            <a:ext cx="3657600" cy="41148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25877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GFT Corporate SemiBold"/>
              </a:rPr>
              <a:t>Verantwortlichkeit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5877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GFT Corporate SemiBold"/>
              </a:rPr>
              <a:t>Direct-to-Service (No-BFF)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5877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GFT Corporate SemiBold"/>
              </a:rPr>
              <a:t>Mit BFF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926080"/>
            <a:ext cx="115214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0449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1326"/>
                </a:solidFill>
                <a:latin typeface="GFT Corporate SemiBold"/>
              </a:rPr>
              <a:t>Authentifizierung /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0449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62"/>
                </a:solidFill>
                <a:latin typeface="GFT Corporate Light"/>
              </a:rPr>
              <a:t>im Browser sichtbar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0449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6BD6"/>
                </a:solidFill>
                <a:latin typeface="GFT Corporate Light"/>
              </a:rPr>
              <a:t>gekapselt im BFF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4290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35478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1326"/>
                </a:solidFill>
                <a:latin typeface="GFT Corporate SemiBold"/>
              </a:rPr>
              <a:t>Aggregation mehrerer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35478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62"/>
                </a:solidFill>
                <a:latin typeface="GFT Corporate Light"/>
              </a:rPr>
              <a:t>im TypeScript-Client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5478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6BD6"/>
                </a:solidFill>
                <a:latin typeface="GFT Corporate Light"/>
              </a:rPr>
              <a:t>im 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931920"/>
            <a:ext cx="115214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050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1326"/>
                </a:solidFill>
                <a:latin typeface="GFT Corporate SemiBold"/>
              </a:rPr>
              <a:t>Orchestrierung von Abläufen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40507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62"/>
                </a:solidFill>
                <a:latin typeface="GFT Corporate Light"/>
              </a:rPr>
              <a:t>im Frontend verstreut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0507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6BD6"/>
                </a:solidFill>
                <a:latin typeface="GFT Corporate Light"/>
              </a:rPr>
              <a:t>zentral im 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443484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455371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1326"/>
                </a:solidFill>
                <a:latin typeface="GFT Corporate SemiBold"/>
              </a:rPr>
              <a:t>Fehler- und Kompensationslogik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455371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62"/>
                </a:solidFill>
                <a:latin typeface="GFT Corporate Light"/>
              </a:rPr>
              <a:t>Client-seitige Saga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55371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6BD6"/>
                </a:solidFill>
                <a:latin typeface="GFT Corporate Light"/>
              </a:rPr>
              <a:t>Backend-Saga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4937760"/>
            <a:ext cx="115214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50566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1326"/>
                </a:solidFill>
                <a:latin typeface="GFT Corporate SemiBold"/>
              </a:rPr>
              <a:t>Interne Service-Topologie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505663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62"/>
                </a:solidFill>
                <a:latin typeface="GFT Corporate Light"/>
              </a:rPr>
              <a:t>im Client sichtbar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505663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6BD6"/>
                </a:solidFill>
                <a:latin typeface="GFT Corporate Light"/>
              </a:rPr>
              <a:t>gegen Client gekapselt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544068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55595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1326"/>
                </a:solidFill>
                <a:latin typeface="GFT Corporate SemiBold"/>
              </a:rPr>
              <a:t>Integrationslogik in TypeScript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55595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62"/>
                </a:solidFill>
                <a:latin typeface="GFT Corporate Light"/>
              </a:rPr>
              <a:t>wächst mit Komplexität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55595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6BD6"/>
                </a:solidFill>
                <a:latin typeface="GFT Corporate Light"/>
              </a:rPr>
              <a:t>bleibt schlank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080760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Weniger Integrationslogik in TypeScript bedeutet in der Regel: weniger Wartung im Frontend.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01326"/>
                </a:solidFill>
                <a:latin typeface="GFT Corporate SemiBold"/>
              </a:rPr>
              <a:t>Was die Entscheidung für die Beteiligten bedeutet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/>
              <a:t>Drei Perspektiven auf dieselbe Architekturentscheidung.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56032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60320"/>
            <a:ext cx="3703320" cy="10972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1326"/>
                </a:solidFill>
                <a:latin typeface="GFT Corporate SemiBold"/>
              </a:rPr>
              <a:t>Entscheider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7355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6BD6"/>
                </a:solidFill>
                <a:latin typeface="GFT Corporate Light"/>
              </a:rPr>
              <a:t>Risiko &amp; Änderbarkeit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4903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67588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Komplexität liegt dort,</a:t>
            </a:r>
          </a:p>
          <a:p>
            <a:r>
              <a:rPr sz="1250"/>
              <a:t>wo sie beherrschbar ist.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2627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45312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Frontend-Änderungen werden planbarer,</a:t>
            </a:r>
          </a:p>
          <a:p>
            <a:r>
              <a:rPr sz="1250"/>
              <a:t>weil Integrationslogik im Backend bleibt.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0351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523036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Weniger Kopplung des Clients</a:t>
            </a:r>
          </a:p>
          <a:p>
            <a:r>
              <a:rPr sz="1250"/>
              <a:t>an interne Service-Zuschnitte.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256032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59" y="2560320"/>
            <a:ext cx="3703320" cy="10972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1326"/>
                </a:solidFill>
                <a:latin typeface="GFT Corporate SemiBold"/>
              </a:rPr>
              <a:t>Architekten / Lead Devs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327355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6BD6"/>
                </a:solidFill>
                <a:latin typeface="GFT Corporate Light"/>
              </a:rPr>
              <a:t>Schnitt &amp; Verträge</a:t>
            </a:r>
          </a:p>
        </p:txBody>
      </p:sp>
      <p:sp>
        <p:nvSpPr>
          <p:cNvPr id="23" name="Oval 22"/>
          <p:cNvSpPr/>
          <p:nvPr/>
        </p:nvSpPr>
        <p:spPr>
          <a:xfrm>
            <a:off x="4544568" y="374903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59" y="367588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Eine fachlich geprägte BFF-Schnittstelle</a:t>
            </a:r>
          </a:p>
          <a:p>
            <a:r>
              <a:rPr sz="1250"/>
              <a:t>statt vieler Einzelverträge im Client.</a:t>
            </a:r>
          </a:p>
        </p:txBody>
      </p:sp>
      <p:sp>
        <p:nvSpPr>
          <p:cNvPr id="25" name="Oval 24"/>
          <p:cNvSpPr/>
          <p:nvPr/>
        </p:nvSpPr>
        <p:spPr>
          <a:xfrm>
            <a:off x="4544568" y="452627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59" y="445312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Aggregation und Orchestrierung</a:t>
            </a:r>
          </a:p>
          <a:p>
            <a:r>
              <a:rPr sz="1250"/>
              <a:t>an einer zentralen, testbaren Stelle.</a:t>
            </a:r>
          </a:p>
        </p:txBody>
      </p:sp>
      <p:sp>
        <p:nvSpPr>
          <p:cNvPr id="27" name="Oval 26"/>
          <p:cNvSpPr/>
          <p:nvPr/>
        </p:nvSpPr>
        <p:spPr>
          <a:xfrm>
            <a:off x="4544568" y="530351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59" y="523036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Backend-Refactorings treffen das Frontend</a:t>
            </a:r>
          </a:p>
          <a:p>
            <a:r>
              <a:rPr sz="1250"/>
              <a:t>spürbar seltener.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2560320"/>
            <a:ext cx="3703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65008" y="2560320"/>
            <a:ext cx="3703320" cy="10972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8" y="28803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1326"/>
                </a:solidFill>
                <a:latin typeface="GFT Corporate SemiBold"/>
              </a:rPr>
              <a:t>Full-Stack-Entwickler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327355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006BD6"/>
                </a:solidFill>
                <a:latin typeface="GFT Corporate Light"/>
              </a:rPr>
              <a:t>Alltag in TypeScript</a:t>
            </a:r>
          </a:p>
        </p:txBody>
      </p:sp>
      <p:sp>
        <p:nvSpPr>
          <p:cNvPr id="33" name="Oval 32"/>
          <p:cNvSpPr/>
          <p:nvPr/>
        </p:nvSpPr>
        <p:spPr>
          <a:xfrm>
            <a:off x="8357616" y="374903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367588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Weniger Token-, Auth- und</a:t>
            </a:r>
          </a:p>
          <a:p>
            <a:r>
              <a:rPr sz="1250"/>
              <a:t>Aggregationslogik im Browser.</a:t>
            </a:r>
          </a:p>
        </p:txBody>
      </p:sp>
      <p:sp>
        <p:nvSpPr>
          <p:cNvPr id="35" name="Oval 34"/>
          <p:cNvSpPr/>
          <p:nvPr/>
        </p:nvSpPr>
        <p:spPr>
          <a:xfrm>
            <a:off x="8357616" y="452627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22208" y="445312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Fokus auf UI, Interaktion und View-State</a:t>
            </a:r>
          </a:p>
          <a:p>
            <a:r>
              <a:rPr sz="1250"/>
              <a:t>statt Integrations-Boilerplate.</a:t>
            </a:r>
          </a:p>
        </p:txBody>
      </p:sp>
      <p:sp>
        <p:nvSpPr>
          <p:cNvPr id="37" name="Oval 36"/>
          <p:cNvSpPr/>
          <p:nvPr/>
        </p:nvSpPr>
        <p:spPr>
          <a:xfrm>
            <a:off x="8357616" y="5303519"/>
            <a:ext cx="73152" cy="73152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22208" y="5230367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/>
              <a:t>Bei komplexen Writes keine clientseitige</a:t>
            </a:r>
          </a:p>
          <a:p>
            <a:r>
              <a:rPr sz="1250"/>
              <a:t>Orchestrierung und Kompensation mehr.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01326"/>
                </a:solidFill>
                <a:latin typeface="GFT Corporate SemiBold"/>
              </a:rPr>
              <a:t>Schon bei Reads: Aggregation gehört ins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/>
              <a:t>Der Unterschied beginnt schon vor komplexen Writes.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514600"/>
            <a:ext cx="5577840" cy="3383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14600"/>
            <a:ext cx="73152" cy="3383280"/>
          </a:xfrm>
          <a:prstGeom prst="rect">
            <a:avLst/>
          </a:prstGeom>
          <a:solidFill>
            <a:srgbClr val="4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1326"/>
                </a:solidFill>
                <a:latin typeface="GFT Corporate SemiBold"/>
              </a:rPr>
              <a:t>No-BFF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4495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65462"/>
                </a:solidFill>
                <a:latin typeface="GFT Corporate Light"/>
              </a:rPr>
              <a:t>Aggregation im TypeScript-Client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77640"/>
            <a:ext cx="173736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1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1326"/>
                </a:solidFill>
                <a:latin typeface="GFT Corporate SemiBold"/>
              </a:rPr>
              <a:t>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5072" y="3383280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4023360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5072" y="4663440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C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514600" y="3611880"/>
            <a:ext cx="1490472" cy="64008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14600" y="4251960"/>
            <a:ext cx="1490472" cy="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14600" y="4251960"/>
            <a:ext cx="1490472" cy="64008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2063" y="530352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54132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Mehrere Calls · Fan-out im Client</a:t>
            </a:r>
          </a:p>
          <a:p>
            <a:r>
              <a:rPr sz="1250"/>
              <a:t>· Client kennt den Service-Zuschnitt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2514600"/>
            <a:ext cx="5577840" cy="3383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45352" y="2514600"/>
            <a:ext cx="73152" cy="338328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2697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1326"/>
                </a:solidFill>
                <a:latin typeface="GFT Corporate SemiBold"/>
              </a:rPr>
              <a:t>Mit BFF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04495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65462"/>
                </a:solidFill>
                <a:latin typeface="GFT Corporate Light"/>
              </a:rPr>
              <a:t>Aggregation gekapselt im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77640"/>
            <a:ext cx="173736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1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1326"/>
                </a:solidFill>
                <a:latin typeface="GFT Corporate SemiBold"/>
              </a:rPr>
              <a:t>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33304" y="3371486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001326"/>
                </a:solidFill>
                <a:latin typeface="GFT Corporate Light"/>
              </a:rPr>
              <a:t>Service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3304" y="4011566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33304" y="4651646"/>
            <a:ext cx="1554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1326"/>
                </a:solidFill>
                <a:latin typeface="GFT Corporate Light"/>
              </a:rPr>
              <a:t>Service 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3977640"/>
            <a:ext cx="1463040" cy="548640"/>
          </a:xfrm>
          <a:prstGeom prst="roundRect">
            <a:avLst>
              <a:gd name="adj" fmla="val 4000"/>
            </a:avLst>
          </a:prstGeom>
          <a:solidFill>
            <a:srgbClr val="006BD6"/>
          </a:solidFill>
          <a:ln w="12700">
            <a:solidFill>
              <a:srgbClr val="006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GFT Corporate SemiBold"/>
              </a:rPr>
              <a:t>BFF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38160" y="4251960"/>
            <a:ext cx="502920" cy="0"/>
          </a:xfrm>
          <a:prstGeom prst="line">
            <a:avLst/>
          </a:prstGeom>
          <a:ln w="2540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  <a:endCxn id="27" idx="1"/>
          </p:cNvCxnSpPr>
          <p:nvPr/>
        </p:nvCxnSpPr>
        <p:spPr>
          <a:xfrm flipV="1">
            <a:off x="10104120" y="3600086"/>
            <a:ext cx="329184" cy="377554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endCxn id="28" idx="1"/>
          </p:cNvCxnSpPr>
          <p:nvPr/>
        </p:nvCxnSpPr>
        <p:spPr>
          <a:xfrm>
            <a:off x="10104120" y="4240166"/>
            <a:ext cx="329184" cy="0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>
          <a:xfrm>
            <a:off x="10104120" y="4526280"/>
            <a:ext cx="329184" cy="377554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27848" y="345643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6BD6"/>
                </a:solidFill>
                <a:latin typeface="GFT Corporate SemiBold"/>
              </a:rPr>
              <a:t>1 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18504" y="530352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19672" y="54132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Ein Call · klarer Vertrag</a:t>
            </a:r>
          </a:p>
          <a:p>
            <a:r>
              <a:rPr sz="1250"/>
              <a:t>· Service-Zuschnitt bleibt unsichtbar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6080760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Ändern sich Services oder Zuschnitte, bleibt das Frontend stabiler — der Vertrag ist das BFF.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01326"/>
                </a:solidFill>
                <a:latin typeface="GFT Corporate SemiBold"/>
              </a:rPr>
              <a:t>Komplexe Writes: Orchestrierung gehört ans richtige Ende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dirty="0" err="1"/>
              <a:t>Keine</a:t>
            </a:r>
            <a:r>
              <a:rPr sz="1450" dirty="0"/>
              <a:t> </a:t>
            </a:r>
            <a:r>
              <a:rPr sz="1450" dirty="0" err="1"/>
              <a:t>globale</a:t>
            </a:r>
            <a:r>
              <a:rPr sz="1450" dirty="0"/>
              <a:t> </a:t>
            </a:r>
            <a:r>
              <a:rPr sz="1450" dirty="0" err="1"/>
              <a:t>Transaktion</a:t>
            </a:r>
            <a:r>
              <a:rPr sz="1450" dirty="0"/>
              <a:t>: Saga </a:t>
            </a:r>
            <a:r>
              <a:rPr sz="1450" dirty="0" err="1"/>
              <a:t>mit</a:t>
            </a:r>
            <a:r>
              <a:rPr sz="1450" dirty="0"/>
              <a:t> </a:t>
            </a:r>
            <a:r>
              <a:rPr sz="1450" dirty="0" err="1"/>
              <a:t>Kompensation</a:t>
            </a:r>
            <a:r>
              <a:rPr sz="1450" dirty="0"/>
              <a:t>. </a:t>
            </a:r>
            <a:r>
              <a:rPr sz="1450" dirty="0" err="1"/>
              <a:t>Entscheidend</a:t>
            </a:r>
            <a:r>
              <a:rPr sz="1450" dirty="0"/>
              <a:t> </a:t>
            </a:r>
            <a:r>
              <a:rPr sz="1450" dirty="0" err="1"/>
              <a:t>ist</a:t>
            </a:r>
            <a:r>
              <a:rPr sz="1450" dirty="0"/>
              <a:t>, </a:t>
            </a:r>
            <a:r>
              <a:rPr sz="1450" dirty="0" err="1"/>
              <a:t>wer</a:t>
            </a:r>
            <a:r>
              <a:rPr sz="1450" dirty="0"/>
              <a:t> </a:t>
            </a:r>
            <a:r>
              <a:rPr sz="1450" dirty="0" err="1"/>
              <a:t>orchestriert</a:t>
            </a:r>
            <a:r>
              <a:rPr sz="145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514600"/>
            <a:ext cx="5577840" cy="3383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14600"/>
            <a:ext cx="73152" cy="3383280"/>
          </a:xfrm>
          <a:prstGeom prst="rect">
            <a:avLst/>
          </a:prstGeom>
          <a:solidFill>
            <a:srgbClr val="4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1326"/>
                </a:solidFill>
                <a:latin typeface="GFT Corporate SemiBold"/>
              </a:rPr>
              <a:t>No-BFF · Client-side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6324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62"/>
                </a:solidFill>
                <a:latin typeface="GFT Corporate Light"/>
              </a:rPr>
              <a:t>Orchestrator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9184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4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GFT Corporate SemiBold"/>
              </a:rPr>
              <a:t>Browser / 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931920"/>
            <a:ext cx="12801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01326"/>
                </a:solidFill>
                <a:latin typeface="GFT Corporate SemiBold"/>
              </a:rPr>
              <a:t>Step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87752" y="3931920"/>
            <a:ext cx="12801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01326"/>
                </a:solidFill>
                <a:latin typeface="GFT Corporate SemiBold"/>
              </a:rPr>
              <a:t>Step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6512" y="3931920"/>
            <a:ext cx="12801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01326"/>
                </a:solidFill>
                <a:latin typeface="GFT Corporate SemiBold"/>
              </a:rPr>
              <a:t>Step 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59152" y="4183380"/>
            <a:ext cx="228600" cy="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67912" y="4183380"/>
            <a:ext cx="228600" cy="0"/>
          </a:xfrm>
          <a:prstGeom prst="line">
            <a:avLst/>
          </a:prstGeom>
          <a:ln w="19050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78992" y="4736592"/>
            <a:ext cx="42976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65462"/>
                </a:solidFill>
                <a:latin typeface="GFT Corporate Light"/>
              </a:rPr>
              <a:t>Kompensation (bei Fehler)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078992" y="4956047"/>
            <a:ext cx="4297680" cy="0"/>
          </a:xfrm>
          <a:prstGeom prst="line">
            <a:avLst/>
          </a:prstGeom>
          <a:ln w="15875">
            <a:solidFill>
              <a:srgbClr val="46546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50292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/>
              <a:t>· Orchestrierung im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28523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/>
              <a:t>· Kompensation im Client implementieren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54126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/>
              <a:t>· Mehr Netzwerk-, Auth- und Zustandslogik im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514600"/>
            <a:ext cx="5577840" cy="33832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2514600"/>
            <a:ext cx="73152" cy="338328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9672" y="2697480"/>
            <a:ext cx="5120640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dirty="0" err="1">
                <a:solidFill>
                  <a:srgbClr val="001326"/>
                </a:solidFill>
                <a:latin typeface="GFT Corporate SemiBold"/>
              </a:rPr>
              <a:t>Mit</a:t>
            </a:r>
            <a:r>
              <a:rPr sz="1300" b="1" dirty="0">
                <a:solidFill>
                  <a:srgbClr val="001326"/>
                </a:solidFill>
                <a:latin typeface="GFT Corporate SemiBold"/>
              </a:rPr>
              <a:t> BFF · Backend</a:t>
            </a:r>
            <a:r>
              <a:rPr lang="de-DE" sz="1300" b="1" dirty="0">
                <a:solidFill>
                  <a:srgbClr val="001326"/>
                </a:solidFill>
                <a:latin typeface="GFT Corporate SemiBold"/>
              </a:rPr>
              <a:t>-</a:t>
            </a:r>
            <a:r>
              <a:rPr sz="1300" b="1" dirty="0">
                <a:solidFill>
                  <a:srgbClr val="001326"/>
                </a:solidFill>
                <a:latin typeface="GFT Corporate SemiBold"/>
              </a:rPr>
              <a:t>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06324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62"/>
                </a:solidFill>
                <a:latin typeface="GFT Corporate Light"/>
              </a:rPr>
              <a:t>Orchestrator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9672" y="329184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GFT Corporate SemiBold"/>
              </a:rPr>
              <a:t>BFF (Backend)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85432" y="3931920"/>
            <a:ext cx="12801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01326"/>
                </a:solidFill>
                <a:latin typeface="GFT Corporate SemiBold"/>
              </a:rPr>
              <a:t>Step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3931920"/>
            <a:ext cx="12801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01326"/>
                </a:solidFill>
                <a:latin typeface="GFT Corporate SemiBold"/>
              </a:rPr>
              <a:t>Step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2952" y="3931920"/>
            <a:ext cx="128016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E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01326"/>
                </a:solidFill>
                <a:latin typeface="GFT Corporate SemiBold"/>
              </a:rPr>
              <a:t>Step 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65592" y="4183380"/>
            <a:ext cx="228600" cy="0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74352" y="4183380"/>
            <a:ext cx="228600" cy="0"/>
          </a:xfrm>
          <a:prstGeom prst="line">
            <a:avLst/>
          </a:prstGeom>
          <a:ln w="19050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85432" y="4736592"/>
            <a:ext cx="42976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65462"/>
                </a:solidFill>
                <a:latin typeface="GFT Corporate Light"/>
              </a:rPr>
              <a:t>Kompensation (bei Fehler)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885432" y="4956047"/>
            <a:ext cx="4297680" cy="0"/>
          </a:xfrm>
          <a:prstGeom prst="line">
            <a:avLst/>
          </a:prstGeom>
          <a:ln w="15875">
            <a:solidFill>
              <a:srgbClr val="006BD6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19672" y="50292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dirty="0"/>
              <a:t>· Saga </a:t>
            </a:r>
            <a:r>
              <a:rPr sz="1150" dirty="0" err="1"/>
              <a:t>läuft</a:t>
            </a:r>
            <a:r>
              <a:rPr sz="1150" dirty="0"/>
              <a:t> </a:t>
            </a:r>
            <a:r>
              <a:rPr sz="1150" dirty="0" err="1"/>
              <a:t>serverseitig</a:t>
            </a:r>
            <a:endParaRPr sz="1150" dirty="0"/>
          </a:p>
        </p:txBody>
      </p:sp>
      <p:sp>
        <p:nvSpPr>
          <p:cNvPr id="37" name="TextBox 36"/>
          <p:cNvSpPr txBox="1"/>
          <p:nvPr/>
        </p:nvSpPr>
        <p:spPr>
          <a:xfrm>
            <a:off x="6519672" y="528523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dirty="0"/>
              <a:t>· </a:t>
            </a:r>
            <a:r>
              <a:rPr sz="1150" dirty="0" err="1"/>
              <a:t>Kompensation</a:t>
            </a:r>
            <a:r>
              <a:rPr sz="1150" dirty="0"/>
              <a:t> an </a:t>
            </a:r>
            <a:r>
              <a:rPr sz="1150" dirty="0" err="1"/>
              <a:t>einer</a:t>
            </a:r>
            <a:r>
              <a:rPr sz="1150" dirty="0"/>
              <a:t> </a:t>
            </a:r>
            <a:r>
              <a:rPr sz="1150" dirty="0" err="1"/>
              <a:t>testbaren</a:t>
            </a:r>
            <a:r>
              <a:rPr sz="1150" dirty="0"/>
              <a:t> Stelle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5541264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dirty="0"/>
              <a:t>· Frontend </a:t>
            </a:r>
            <a:r>
              <a:rPr sz="1150" dirty="0" err="1"/>
              <a:t>zeigt</a:t>
            </a:r>
            <a:r>
              <a:rPr sz="1150" dirty="0"/>
              <a:t> </a:t>
            </a:r>
            <a:r>
              <a:rPr sz="1150" dirty="0" err="1"/>
              <a:t>Ergebnis</a:t>
            </a:r>
            <a:r>
              <a:rPr sz="1150" dirty="0"/>
              <a:t> und UI-</a:t>
            </a:r>
            <a:r>
              <a:rPr sz="1150" dirty="0" err="1"/>
              <a:t>Zustand</a:t>
            </a:r>
            <a:endParaRPr sz="1150" dirty="0"/>
          </a:p>
        </p:txBody>
      </p:sp>
      <p:sp>
        <p:nvSpPr>
          <p:cNvPr id="39" name="TextBox 38"/>
          <p:cNvSpPr txBox="1"/>
          <p:nvPr/>
        </p:nvSpPr>
        <p:spPr>
          <a:xfrm>
            <a:off x="438912" y="6080760"/>
            <a:ext cx="11338560" cy="208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dirty="0" err="1"/>
              <a:t>Hier</a:t>
            </a:r>
            <a:r>
              <a:rPr sz="1250" dirty="0"/>
              <a:t> </a:t>
            </a:r>
            <a:r>
              <a:rPr sz="1250" dirty="0" err="1"/>
              <a:t>wird</a:t>
            </a:r>
            <a:r>
              <a:rPr sz="1250" dirty="0"/>
              <a:t> der </a:t>
            </a:r>
            <a:r>
              <a:rPr sz="1250" dirty="0" err="1"/>
              <a:t>Mehrwert</a:t>
            </a:r>
            <a:r>
              <a:rPr sz="1250" dirty="0"/>
              <a:t> am </a:t>
            </a:r>
            <a:r>
              <a:rPr sz="1250" dirty="0" err="1"/>
              <a:t>deutlichsten</a:t>
            </a:r>
            <a:r>
              <a:rPr sz="1250" dirty="0"/>
              <a:t>: </a:t>
            </a:r>
            <a:r>
              <a:rPr lang="de-DE" sz="1250" dirty="0"/>
              <a:t>Keine</a:t>
            </a:r>
            <a:r>
              <a:rPr sz="1250" dirty="0"/>
              <a:t> </a:t>
            </a:r>
            <a:r>
              <a:rPr sz="1250" dirty="0" err="1"/>
              <a:t>Orchestrierungslogik</a:t>
            </a:r>
            <a:r>
              <a:rPr sz="1250" dirty="0"/>
              <a:t> in TypeScript.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2878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2878"/>
          </a:solidFill>
          <a:ln>
            <a:solidFill>
              <a:srgbClr val="002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April 2026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96112"/>
            <a:ext cx="1133856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78"/>
                </a:solidFill>
                <a:latin typeface="GFT Corporate SemiBold"/>
              </a:rPr>
              <a:t>Architektur der Demo-App: No-BFF</a:t>
            </a:r>
          </a:p>
        </p:txBody>
      </p:sp>
      <p:pic>
        <p:nvPicPr>
          <p:cNvPr id="7" name="Picture 6" descr="no_bff_direct_to_service_sp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600" y="1480000"/>
            <a:ext cx="8528799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2878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2878"/>
          </a:solidFill>
          <a:ln>
            <a:solidFill>
              <a:srgbClr val="002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April 2026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96112"/>
            <a:ext cx="1133856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78"/>
                </a:solidFill>
                <a:latin typeface="GFT Corporate SemiBold"/>
              </a:rPr>
              <a:t>Architektur der Demo-App: With BFF</a:t>
            </a:r>
          </a:p>
        </p:txBody>
      </p:sp>
      <p:pic>
        <p:nvPicPr>
          <p:cNvPr id="7" name="Picture 6" descr="bff_architecture_with_o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600" y="1480000"/>
            <a:ext cx="8528799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Live-Demo: die Demo-App in Kürze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Eine Anwendung, zwei Frontends und dieselben Backend-Services.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514600"/>
            <a:ext cx="3931920" cy="3657600"/>
          </a:xfrm>
          <a:prstGeom prst="rect">
            <a:avLst/>
          </a:prstGeom>
          <a:solidFill>
            <a:srgbClr val="00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8346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Demo-App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0896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Zwei Angular-Frontends:</a:t>
            </a:r>
          </a:p>
          <a:p>
            <a:r>
              <a:t>No-BFF und With BFF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605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Backend-Landschaft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3891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Keycloak, BFF sowie</a:t>
            </a:r>
          </a:p>
          <a:p>
            <a:r>
              <a:t>User-, Notification- und Activity-Service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937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Gezeigte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16636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Read mit Aggregation</a:t>
            </a:r>
          </a:p>
          <a:p>
            <a:r>
              <a:t>und verteilter Write als Saga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514600"/>
            <a:ext cx="7150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1326"/>
                </a:solidFill>
                <a:latin typeface="GFT Corporate SemiBold"/>
              </a:rPr>
              <a:t>Worauf achten?</a:t>
            </a:r>
          </a:p>
        </p:txBody>
      </p:sp>
      <p:sp>
        <p:nvSpPr>
          <p:cNvPr id="17" name="Oval 16"/>
          <p:cNvSpPr/>
          <p:nvPr/>
        </p:nvSpPr>
        <p:spPr>
          <a:xfrm>
            <a:off x="4599431" y="3017520"/>
            <a:ext cx="320040" cy="320040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GFT Corporate SemiBol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2971800"/>
            <a:ext cx="6693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Netzwerk &amp; Aufrufe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3227832"/>
            <a:ext cx="6693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No-BFF: mehrere Browser-Calls.</a:t>
            </a:r>
          </a:p>
          <a:p>
            <a:r>
              <a:t>BFF: ein zentraler Aufruf.</a:t>
            </a:r>
          </a:p>
        </p:txBody>
      </p:sp>
      <p:sp>
        <p:nvSpPr>
          <p:cNvPr id="20" name="Oval 19"/>
          <p:cNvSpPr/>
          <p:nvPr/>
        </p:nvSpPr>
        <p:spPr>
          <a:xfrm>
            <a:off x="4599431" y="3611879"/>
            <a:ext cx="320040" cy="320040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GFT Corporate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1" y="3566160"/>
            <a:ext cx="6693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Authentifizierung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1" y="3822191"/>
            <a:ext cx="6693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No-BFF: Token im Browser.</a:t>
            </a:r>
          </a:p>
          <a:p>
            <a:r>
              <a:t>BFF: Session-Cookie, tokenfreier Client.</a:t>
            </a:r>
          </a:p>
        </p:txBody>
      </p:sp>
      <p:sp>
        <p:nvSpPr>
          <p:cNvPr id="23" name="Oval 22"/>
          <p:cNvSpPr/>
          <p:nvPr/>
        </p:nvSpPr>
        <p:spPr>
          <a:xfrm>
            <a:off x="4599431" y="4206240"/>
            <a:ext cx="320040" cy="320040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GFT Corporate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1" y="4160520"/>
            <a:ext cx="6693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TypeScript-Komplexität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4416552"/>
            <a:ext cx="6693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No-BFF: Aggregation, Orchestrierung</a:t>
            </a:r>
          </a:p>
          <a:p>
            <a:r>
              <a:t>und Kompensation im Client.</a:t>
            </a:r>
          </a:p>
        </p:txBody>
      </p:sp>
      <p:sp>
        <p:nvSpPr>
          <p:cNvPr id="26" name="Oval 25"/>
          <p:cNvSpPr/>
          <p:nvPr/>
        </p:nvSpPr>
        <p:spPr>
          <a:xfrm>
            <a:off x="4599431" y="4800600"/>
            <a:ext cx="320040" cy="320040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GFT Corporate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1" y="4754880"/>
            <a:ext cx="6693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Write-Flow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1" y="5010912"/>
            <a:ext cx="6693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No-BFF: clientseitige Saga.</a:t>
            </a:r>
          </a:p>
          <a:p>
            <a:r>
              <a:t>BFF: serverseitige BFF-Orchestrierung.</a:t>
            </a:r>
          </a:p>
        </p:txBody>
      </p:sp>
      <p:sp>
        <p:nvSpPr>
          <p:cNvPr id="29" name="Oval 28"/>
          <p:cNvSpPr/>
          <p:nvPr/>
        </p:nvSpPr>
        <p:spPr>
          <a:xfrm>
            <a:off x="4599431" y="5394960"/>
            <a:ext cx="320040" cy="320040"/>
          </a:xfrm>
          <a:prstGeom prst="ellipse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GFT Corporate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1" y="5349240"/>
            <a:ext cx="6693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Änderungswirkung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1" y="5605272"/>
            <a:ext cx="66934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No-BFF: Frontend muss oft mit.</a:t>
            </a:r>
          </a:p>
          <a:p>
            <a:r>
              <a:t>BFF: vieles bleibt im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4754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65462"/>
                </a:solidFill>
                <a:latin typeface="GFT Corporate Light"/>
              </a:rPr>
              <a:t>BFF bei komplexeren Vorhaben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256032" cy="41148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2992" y="64556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62"/>
                </a:solidFill>
                <a:latin typeface="GFT Corporate Light"/>
              </a:rPr>
              <a:t>April 2026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55664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GFT Corporate Light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89611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001326"/>
                </a:solidFill>
                <a:latin typeface="GFT Corporate SemiBold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11338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/>
              <a:t>BFF als gezielte Komplexitätsverlagerung.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514600"/>
            <a:ext cx="11338560" cy="1234440"/>
          </a:xfrm>
          <a:prstGeom prst="rect">
            <a:avLst/>
          </a:prstGeom>
          <a:solidFill>
            <a:srgbClr val="001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" y="2514600"/>
            <a:ext cx="109728" cy="1234440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67919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/>
              <a:t>Bei komplexeren Vorhaben gehören Integration, 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/>
              <a:t>und Orchestrierung ins Backend — nicht ins Frontend.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Für einfache Szenarien bleibt Direct-to-Service eine valide Option.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40233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4023360"/>
            <a:ext cx="2697480" cy="73152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42976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1326"/>
                </a:solidFill>
                <a:latin typeface="GFT Corporate SemiBold"/>
              </a:rPr>
              <a:t>Weniger Wartung im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89204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/>
              <a:t>Weniger technische Integrationslogik</a:t>
            </a:r>
          </a:p>
          <a:p>
            <a:r>
              <a:rPr sz="1180"/>
              <a:t>in TypeScript — geringerer</a:t>
            </a:r>
          </a:p>
          <a:p>
            <a:r>
              <a:rPr sz="1180"/>
              <a:t>Wartungsaufwand zu erwarten.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0233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37560" y="4023360"/>
            <a:ext cx="2697480" cy="73152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42976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1326"/>
                </a:solidFill>
                <a:latin typeface="GFT Corporate SemiBold"/>
              </a:rPr>
              <a:t>Klare Schnittstelle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9204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/>
              <a:t>Das BFF wird der stabile Vertrag</a:t>
            </a:r>
          </a:p>
          <a:p>
            <a:r>
              <a:rPr sz="1180"/>
              <a:t>zwischen UI und Backend-Landschaft.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40233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8" y="4023360"/>
            <a:ext cx="2697480" cy="73152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42976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1326"/>
                </a:solidFill>
                <a:latin typeface="GFT Corporate SemiBold"/>
              </a:rPr>
              <a:t>Tokenfreier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89204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/>
              <a:t>Auth und Tokens sind gekapselt —</a:t>
            </a:r>
          </a:p>
          <a:p>
            <a:r>
              <a:rPr sz="1180"/>
              <a:t>kein direkt sichtbarer</a:t>
            </a:r>
          </a:p>
          <a:p>
            <a:r>
              <a:rPr sz="1180"/>
              <a:t>Access Token im Browser.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34856" y="402336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34856" y="4023360"/>
            <a:ext cx="2697480" cy="73152"/>
          </a:xfrm>
          <a:prstGeom prst="rect">
            <a:avLst/>
          </a:prstGeom>
          <a:solidFill>
            <a:srgbClr val="00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63456" y="42976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1326"/>
                </a:solidFill>
                <a:latin typeface="GFT Corporate SemiBold"/>
              </a:rPr>
              <a:t>Bessere Änderbarkeit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4892040"/>
            <a:ext cx="2331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80"/>
              <a:t>Backend-Refactorings und neue</a:t>
            </a:r>
          </a:p>
          <a:p>
            <a:r>
              <a:rPr sz="1180"/>
              <a:t>Service-Schnitte treffen</a:t>
            </a:r>
          </a:p>
          <a:p>
            <a:r>
              <a:rPr sz="1180"/>
              <a:t>das Frontend seltener.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6263640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/>
              <a:t>Nächster Schritt: Live-Demo — mit und ohne BFF im direkten Vergleich.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7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FT_PPT_Template_16_9">
  <a:themeElements>
    <a:clrScheme name="GFT colors">
      <a:dk1>
        <a:srgbClr val="001326"/>
      </a:dk1>
      <a:lt1>
        <a:srgbClr val="FFFFFF"/>
      </a:lt1>
      <a:dk2>
        <a:srgbClr val="465462"/>
      </a:dk2>
      <a:lt2>
        <a:srgbClr val="F4F6F9"/>
      </a:lt2>
      <a:accent1>
        <a:srgbClr val="AEB5BD"/>
      </a:accent1>
      <a:accent2>
        <a:srgbClr val="DDE0E5"/>
      </a:accent2>
      <a:accent3>
        <a:srgbClr val="213E7F"/>
      </a:accent3>
      <a:accent4>
        <a:srgbClr val="006BD6"/>
      </a:accent4>
      <a:accent5>
        <a:srgbClr val="5199E2"/>
      </a:accent5>
      <a:accent6>
        <a:srgbClr val="DDE9F6"/>
      </a:accent6>
      <a:hlink>
        <a:srgbClr val="006BD6"/>
      </a:hlink>
      <a:folHlink>
        <a:srgbClr val="213E7F"/>
      </a:folHlink>
    </a:clrScheme>
    <a:fontScheme name="GFT fonts">
      <a:majorFont>
        <a:latin typeface="GFT Corporate SemiBold"/>
        <a:ea typeface=""/>
        <a:cs typeface=""/>
      </a:majorFont>
      <a:minorFont>
        <a:latin typeface="GFT Corpor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144000" tIns="108000" rIns="144000" bIns="108000" rtlCol="0" anchor="t"/>
      <a:lstStyle>
        <a:defPPr marL="180000" indent="-180000" algn="l">
          <a:lnSpc>
            <a:spcPct val="120000"/>
          </a:lnSpc>
          <a:spcBef>
            <a:spcPts val="500"/>
          </a:spcBef>
          <a:buFont typeface="Wingdings" panose="05000000000000000000" pitchFamily="2" charset="2"/>
          <a:buChar char="§"/>
          <a:defRPr sz="14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AEB5BD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20000"/>
          </a:lnSpc>
          <a:spcBef>
            <a:spcPts val="500"/>
          </a:spcBef>
          <a:defRPr sz="12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White">
      <a:srgbClr val="FFFFFF"/>
    </a:custClr>
    <a:custClr name="Dark Blue">
      <a:srgbClr val="001326"/>
    </a:custClr>
    <a:custClr name="Gray">
      <a:srgbClr val="F4F6F9"/>
    </a:custClr>
    <a:custClr name="Gray 500">
      <a:srgbClr val="465462"/>
    </a:custClr>
    <a:custClr name="Gray 300">
      <a:srgbClr val="AEB5BD"/>
    </a:custClr>
    <a:custClr name="Gray 200">
      <a:srgbClr val="DDE0E5"/>
    </a:custClr>
    <a:custClr name="GFT Logo Blue">
      <a:srgbClr val="213E7F"/>
    </a:custClr>
    <a:custClr name="Primary Blue 500">
      <a:srgbClr val="006BD6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Primary Blue 700">
      <a:srgbClr val="003971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Primary Blue 300">
      <a:srgbClr val="5199E2"/>
    </a:custClr>
    <a:custClr name="Highlight Orange 300">
      <a:srgbClr val="F9BD9F"/>
    </a:custClr>
    <a:custClr name="Highlight Turquoise 300">
      <a:srgbClr val="74EDE9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Primary Blue 200">
      <a:srgbClr val="A3C8ED"/>
    </a:custClr>
    <a:custClr name="Highlight Orange 200">
      <a:srgbClr val="F7DACC"/>
    </a:custClr>
    <a:custClr name="Highlight Turquoise 200">
      <a:srgbClr val="BAF2F2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 ">
      <a:srgbClr val="FFFFFF"/>
    </a:custClr>
    <a:custClr name="Primary Blue 100">
      <a:srgbClr val="DDE9F6"/>
    </a:custClr>
    <a:custClr name="Highlight Orange 100">
      <a:srgbClr val="F5EBE7"/>
    </a:custClr>
    <a:custClr name="Highlight Turquoise 100">
      <a:srgbClr val="DDF4F6"/>
    </a:custClr>
  </a:custClrLst>
  <a:extLst>
    <a:ext uri="{05A4C25C-085E-4340-85A3-A5531E510DB2}">
      <thm15:themeFamily xmlns:thm15="http://schemas.microsoft.com/office/thememl/2012/main" name="2025_GFT_Master Template_Intro" id="{199E28F5-0E56-44BC-8867-AB1DD563438F}" vid="{166230BD-F2E3-4E62-8FB8-7C3E69419559}"/>
    </a:ext>
  </a:extLst>
</a:theme>
</file>

<file path=ppt/theme/theme2.xml><?xml version="1.0" encoding="utf-8"?>
<a:theme xmlns:a="http://schemas.openxmlformats.org/drawingml/2006/main" name="Office">
  <a:themeElements>
    <a:clrScheme name="GFT colors">
      <a:dk1>
        <a:srgbClr val="001326"/>
      </a:dk1>
      <a:lt1>
        <a:srgbClr val="FFFFFF"/>
      </a:lt1>
      <a:dk2>
        <a:srgbClr val="465462"/>
      </a:dk2>
      <a:lt2>
        <a:srgbClr val="F4F6F9"/>
      </a:lt2>
      <a:accent1>
        <a:srgbClr val="AEB5BD"/>
      </a:accent1>
      <a:accent2>
        <a:srgbClr val="DDE0E5"/>
      </a:accent2>
      <a:accent3>
        <a:srgbClr val="213E7F"/>
      </a:accent3>
      <a:accent4>
        <a:srgbClr val="006BD6"/>
      </a:accent4>
      <a:accent5>
        <a:srgbClr val="5199E2"/>
      </a:accent5>
      <a:accent6>
        <a:srgbClr val="DDE9F6"/>
      </a:accent6>
      <a:hlink>
        <a:srgbClr val="006BD6"/>
      </a:hlink>
      <a:folHlink>
        <a:srgbClr val="213E7F"/>
      </a:folHlink>
    </a:clrScheme>
    <a:fontScheme name="GFT fonts">
      <a:majorFont>
        <a:latin typeface="GFT Corporate SemiBold"/>
        <a:ea typeface=""/>
        <a:cs typeface=""/>
      </a:majorFont>
      <a:minorFont>
        <a:latin typeface="GFT Corpor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GFT colors">
      <a:dk1>
        <a:srgbClr val="001326"/>
      </a:dk1>
      <a:lt1>
        <a:srgbClr val="FFFFFF"/>
      </a:lt1>
      <a:dk2>
        <a:srgbClr val="465462"/>
      </a:dk2>
      <a:lt2>
        <a:srgbClr val="F4F6F9"/>
      </a:lt2>
      <a:accent1>
        <a:srgbClr val="AEB5BD"/>
      </a:accent1>
      <a:accent2>
        <a:srgbClr val="DDE0E5"/>
      </a:accent2>
      <a:accent3>
        <a:srgbClr val="213E7F"/>
      </a:accent3>
      <a:accent4>
        <a:srgbClr val="006BD6"/>
      </a:accent4>
      <a:accent5>
        <a:srgbClr val="5199E2"/>
      </a:accent5>
      <a:accent6>
        <a:srgbClr val="DDE9F6"/>
      </a:accent6>
      <a:hlink>
        <a:srgbClr val="006BD6"/>
      </a:hlink>
      <a:folHlink>
        <a:srgbClr val="213E7F"/>
      </a:folHlink>
    </a:clrScheme>
    <a:fontScheme name="GFT fonts">
      <a:majorFont>
        <a:latin typeface="GFT Corporate SemiBold"/>
        <a:ea typeface=""/>
        <a:cs typeface=""/>
      </a:majorFont>
      <a:minorFont>
        <a:latin typeface="GFT Corpor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A6F2C52EBB2848BFC17DAE904FA08A" ma:contentTypeVersion="4" ma:contentTypeDescription="Create a new document." ma:contentTypeScope="" ma:versionID="c6d2e88935588824e6677b7dd932788f">
  <xsd:schema xmlns:xsd="http://www.w3.org/2001/XMLSchema" xmlns:xs="http://www.w3.org/2001/XMLSchema" xmlns:p="http://schemas.microsoft.com/office/2006/metadata/properties" xmlns:ns2="6f58215a-c5da-4c8d-9efa-75a6a7d28cbe" targetNamespace="http://schemas.microsoft.com/office/2006/metadata/properties" ma:root="true" ma:fieldsID="b84b3654316e41efbeb4deb1c0016dc8" ns2:_="">
    <xsd:import namespace="6f58215a-c5da-4c8d-9efa-75a6a7d28c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8215a-c5da-4c8d-9efa-75a6a7d28c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EB635D-8776-4858-B841-43186E959E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2AB8F2-D9EA-4EDB-92E9-A1D6D677FB83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6f58215a-c5da-4c8d-9efa-75a6a7d28cbe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88C7D7B-184A-4405-A0FE-FEB233FC59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58215a-c5da-4c8d-9efa-75a6a7d28c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0220965-8abc-4e4b-aa78-bf58f33dbfa6}" enabled="0" method="" siteId="{c0220965-8abc-4e4b-aa78-bf58f33dbfa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896</Words>
  <Application>Microsoft Office PowerPoint</Application>
  <PresentationFormat>Breitbild</PresentationFormat>
  <Paragraphs>234</Paragraphs>
  <Slides>11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GFT Corporate Light</vt:lpstr>
      <vt:lpstr>GFT Corporate SemiBold</vt:lpstr>
      <vt:lpstr>Wingdings</vt:lpstr>
      <vt:lpstr>GFT_PPT_Template_16_9</vt:lpstr>
      <vt:lpstr>think-cell Slide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Sylvia Orgus | i-pointing</dc:creator>
  <cp:lastModifiedBy>Janda, Martin</cp:lastModifiedBy>
  <cp:revision>4</cp:revision>
  <cp:lastPrinted>2025-09-17T10:28:02Z</cp:lastPrinted>
  <dcterms:created xsi:type="dcterms:W3CDTF">2025-09-25T14:07:46Z</dcterms:created>
  <dcterms:modified xsi:type="dcterms:W3CDTF">2026-04-24T11:10:46Z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0x0101003DA6F2C52EBB2848BFC17DAE904FA08A</vt:lpwstr>
  </property>
</Properties>
</file>